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tags/tag3.xml" ContentType="application/vnd.openxmlformats-officedocument.presentationml.tags+xml"/>
  <Override PartName="/ppt/notesSlides/notesSlide2.xml" ContentType="application/vnd.openxmlformats-officedocument.presentationml.notesSlide+xml"/>
  <Override PartName="/ppt/tags/tag4.xml" ContentType="application/vnd.openxmlformats-officedocument.presentationml.tags+xml"/>
  <Override PartName="/ppt/notesSlides/notesSlide3.xml" ContentType="application/vnd.openxmlformats-officedocument.presentationml.notesSlide+xml"/>
  <Override PartName="/ppt/tags/tag5.xml" ContentType="application/vnd.openxmlformats-officedocument.presentationml.tags+xml"/>
  <Override PartName="/ppt/notesSlides/notesSlide4.xml" ContentType="application/vnd.openxmlformats-officedocument.presentationml.notesSlide+xml"/>
  <Override PartName="/ppt/tags/tag6.xml" ContentType="application/vnd.openxmlformats-officedocument.presentationml.tags+xml"/>
  <Override PartName="/ppt/notesSlides/notesSlide5.xml" ContentType="application/vnd.openxmlformats-officedocument.presentationml.notesSlide+xml"/>
  <Override PartName="/ppt/tags/tag7.xml" ContentType="application/vnd.openxmlformats-officedocument.presentationml.tags+xml"/>
  <Override PartName="/ppt/notesSlides/notesSlide6.xml" ContentType="application/vnd.openxmlformats-officedocument.presentationml.notesSlide+xml"/>
  <Override PartName="/ppt/tags/tag8.xml" ContentType="application/vnd.openxmlformats-officedocument.presentationml.tags+xml"/>
  <Override PartName="/ppt/notesSlides/notesSlide7.xml" ContentType="application/vnd.openxmlformats-officedocument.presentationml.notesSlide+xml"/>
  <Override PartName="/ppt/tags/tag9.xml" ContentType="application/vnd.openxmlformats-officedocument.presentationml.tags+xml"/>
  <Override PartName="/ppt/notesSlides/notesSlide8.xml" ContentType="application/vnd.openxmlformats-officedocument.presentationml.notesSlide+xml"/>
  <Override PartName="/ppt/tags/tag10.xml" ContentType="application/vnd.openxmlformats-officedocument.presentationml.tags+xml"/>
  <Override PartName="/ppt/notesSlides/notesSlide9.xml" ContentType="application/vnd.openxmlformats-officedocument.presentationml.notesSlide+xml"/>
  <Override PartName="/ppt/tags/tag11.xml" ContentType="application/vnd.openxmlformats-officedocument.presentationml.tags+xml"/>
  <Override PartName="/ppt/notesSlides/notesSlide10.xml" ContentType="application/vnd.openxmlformats-officedocument.presentationml.notesSlide+xml"/>
  <Override PartName="/ppt/tags/tag12.xml" ContentType="application/vnd.openxmlformats-officedocument.presentationml.tags+xml"/>
  <Override PartName="/ppt/notesSlides/notesSlide11.xml" ContentType="application/vnd.openxmlformats-officedocument.presentationml.notesSlide+xml"/>
  <Override PartName="/ppt/tags/tag13.xml" ContentType="application/vnd.openxmlformats-officedocument.presentationml.tags+xml"/>
  <Override PartName="/ppt/notesSlides/notesSlide12.xml" ContentType="application/vnd.openxmlformats-officedocument.presentationml.notesSlide+xml"/>
  <Override PartName="/ppt/tags/tag14.xml" ContentType="application/vnd.openxmlformats-officedocument.presentationml.tags+xml"/>
  <Override PartName="/ppt/notesSlides/notesSlide13.xml" ContentType="application/vnd.openxmlformats-officedocument.presentationml.notesSlide+xml"/>
  <Override PartName="/ppt/tags/tag15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2"/>
  </p:sldMasterIdLst>
  <p:notesMasterIdLst>
    <p:notesMasterId r:id="rId16"/>
  </p:notesMasterIdLst>
  <p:handoutMasterIdLst>
    <p:handoutMasterId r:id="rId17"/>
  </p:handout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3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handoutMaster" Target="handoutMasters/handoutMaster1.xml"/><Relationship Id="rId2" Type="http://schemas.openxmlformats.org/officeDocument/2006/relationships/slideMaster" Target="slideMasters/slideMaster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tags" Target="../tags/tag2.xml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6CC66CE-7B5D-4469-B85C-610327FF55DB}"/>
              </a:ext>
            </a:extLst>
          </p:cNvPr>
          <p:cNvSpPr>
            <a:spLocks noGrp="1"/>
          </p:cNvSpPr>
          <p:nvPr>
            <p:ph type="hdr" sz="quarter"/>
            <p:custDataLst>
              <p:tags r:id="rId2"/>
            </p:custDataLst>
          </p:nvPr>
        </p:nvSpPr>
        <p:spPr>
          <a:xfrm>
            <a:off x="0" y="0"/>
            <a:ext cx="68580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tr-TR" sz="1100" u="sng">
                <a:solidFill>
                  <a:srgbClr val="000000"/>
                </a:solidFill>
                <a:latin typeface="Calibri" panose="020F0502020204030204" pitchFamily="34" charset="0"/>
              </a:rPr>
              <a:t>TASNİF DIŞI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DC507E-DAE8-404C-BAD5-E6968C0F050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4136C7-FB4F-4486-A3C2-378AD4BCA59E}" type="datetimeFigureOut">
              <a:rPr lang="tr-TR" smtClean="0"/>
              <a:t>21.01.2026</a:t>
            </a:fld>
            <a:endParaRPr lang="tr-T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C5B2F-7F1B-4E62-9794-B4574ACAD1A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343665-9484-4F1E-A40E-5E34B42B3C9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B86882-B05F-4CBA-AF68-8C179CE68779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20490221"/>
      </p:ext>
    </p:extLst>
  </p:cSld>
  <p:clrMap bg1="lt1" tx1="dk1" bg2="lt2" tx2="dk2" accent1="accent1" accent2="accent2" accent3="accent3" accent4="accent4" accent5="accent5" accent6="accent6" hlink="hlink" folHlink="folHlink"/>
  <p:hf ftr="0" dt="0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tags" Target="../tags/tag1.xml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  <p:custDataLst>
              <p:tags r:id="rId2"/>
            </p:custDataLst>
          </p:nvPr>
        </p:nvSpPr>
        <p:spPr>
          <a:xfrm>
            <a:off x="0" y="0"/>
            <a:ext cx="68580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tr-TR" sz="1100" b="0" i="0" u="sng">
                <a:solidFill>
                  <a:srgbClr val="000000"/>
                </a:solidFill>
                <a:latin typeface="Calibri" panose="020F0502020204030204" pitchFamily="34" charset="0"/>
              </a:defRPr>
            </a:lvl1pPr>
          </a:lstStyle>
          <a:p>
            <a:r>
              <a:rPr lang="tr-TR"/>
              <a:t>TASNİF DIŞI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F75F1C-96D1-4385-A770-21325CBD7C70}" type="datetimeFigureOut">
              <a:rPr lang="tr-TR" smtClean="0"/>
              <a:t>21.01.2026</a:t>
            </a:fld>
            <a:endParaRPr lang="tr-T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C8BBDD-C3B0-48D3-84B8-B335C26FBCD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018173787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3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slide" Target="../slides/slide2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4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slide" Target="../slides/slide3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5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slide" Target="../slides/slide4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6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slide" Target="../slides/slide5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7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slide" Target="../slides/slide6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8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slide" Target="../slides/slide7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9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slide" Target="../slides/slide8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0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slide" Target="../slides/slide9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0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2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1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3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2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4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3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412617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2540186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498090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3180312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098794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5691825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515840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6039755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6527837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10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0483457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8663340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622002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208154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1C553-840C-4E21-8421-4A2AFD2F3D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A8C85A-41FC-4323-ABAA-8412CA7465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1F12A7-D9CE-45E3-B580-F80350E9F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6B93EA-B161-43A7-81D2-EA9395F93F46}" type="datetimeFigureOut">
              <a:rPr lang="tr-TR" smtClean="0"/>
              <a:t>21.01.2026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99ADC0-C6FB-4172-B68B-6F4E4E13A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49E3D9-FF6A-4EBA-916E-8EE18C6D8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745648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52E39-2B91-40C1-B7C2-AEEB5BD88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A35174-FF03-4749-B08A-76B342321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7D2E86-5F26-475B-8D00-4DFF32AAC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6B93EA-B161-43A7-81D2-EA9395F93F46}" type="datetimeFigureOut">
              <a:rPr lang="tr-TR" smtClean="0"/>
              <a:t>21.01.2026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43FE42-DEEC-4139-BA4B-FE4740D6B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EE76AC-B828-4842-8CB7-9D3E13812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8828622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88B46-1E1A-4984-8481-49660F6C0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7CFF74-EDA2-48E8-ADE9-F705064AED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58609F-9D4D-4EA2-8416-2976F9A97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6B93EA-B161-43A7-81D2-EA9395F93F46}" type="datetimeFigureOut">
              <a:rPr lang="tr-TR" smtClean="0"/>
              <a:t>21.01.2026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F91DD0-387B-4C6B-A823-0D55B2A3D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4AAA7D-DA98-4C49-B506-13DDFE649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904831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177DA7-8280-4765-B634-95CE17214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33BAE9-07E0-408C-B4A9-50CD99AEEB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EEB96C-C25D-4580-9FAA-53C55A8D0D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CE50F0-007E-41C6-8715-1A751CF1B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6B93EA-B161-43A7-81D2-EA9395F93F46}" type="datetimeFigureOut">
              <a:rPr lang="tr-TR" smtClean="0"/>
              <a:t>21.01.2026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1C07F2-6121-4F02-80AC-A445959E76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3ACABD-86D5-4B4F-B7D2-DAC964EB0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47483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9B052-59BE-4651-BC79-353B5652E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37C2EC-F24F-439A-81B2-C18C4ABA24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7EDBAC-BCC5-41A3-A221-C7BF06CD2A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BB7258-0289-4DF5-9A85-79876B535F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F9CF78-AB13-4A3C-988F-AF026C09C4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6267B3-9A0A-4FA5-B41D-7A2B13726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6B93EA-B161-43A7-81D2-EA9395F93F46}" type="datetimeFigureOut">
              <a:rPr lang="tr-TR" smtClean="0"/>
              <a:t>21.01.2026</a:t>
            </a:fld>
            <a:endParaRPr lang="tr-T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AA2A1A-555B-4986-A5F3-0FEFE42B5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7589F86-205A-4449-BF7B-BF5B1AC7E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845939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C5CBF-87F2-4B97-A5B6-A122F4984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ECDED0-BCFA-4B20-A9C9-5AC86C878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6B93EA-B161-43A7-81D2-EA9395F93F46}" type="datetimeFigureOut">
              <a:rPr lang="tr-TR" smtClean="0"/>
              <a:t>21.01.2026</a:t>
            </a:fld>
            <a:endParaRPr lang="tr-T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28F174-7A71-4690-91F6-629121EC5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198682-DDF2-460A-99E8-34CF64A12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6952665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F6D0C2E-D2F7-459B-A4AC-C270B064B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6B93EA-B161-43A7-81D2-EA9395F93F46}" type="datetimeFigureOut">
              <a:rPr lang="tr-TR" smtClean="0"/>
              <a:t>21.01.2026</a:t>
            </a:fld>
            <a:endParaRPr lang="tr-T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2D1EBF-BEE1-4A67-B5E4-10A53D7BD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CAE18A-187B-4A00-984B-32A4F01F1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354569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252B1-51B6-4AFF-A724-C91FBC9AF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01FB8D-B703-4D7E-B5A6-D6634DCF92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7BC7C9-2036-42EE-94D6-0BFAD1F1E8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351C32-71F4-41E7-B3C4-8FA4B4F02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6B93EA-B161-43A7-81D2-EA9395F93F46}" type="datetimeFigureOut">
              <a:rPr lang="tr-TR" smtClean="0"/>
              <a:t>21.01.2026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DFF51-5059-43AB-8B6A-B92225C05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38B25B-EBD3-40DF-A6D7-00DF0DDFF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983226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320F9-57FE-493B-880A-93DE853B4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D99876-F043-4243-9869-5192E5AC6C6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BCB1D1-5AA4-49C2-8BB6-E5BEC8AC40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10DB71-F209-4282-81A6-08948FC69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6B93EA-B161-43A7-81D2-EA9395F93F46}" type="datetimeFigureOut">
              <a:rPr lang="tr-TR" smtClean="0"/>
              <a:t>21.01.2026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A73D6C-5765-4E34-A9A1-D604D89BA5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6DC206-641F-49A1-84F6-9DFACDE0C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888353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73E306-944E-47D6-A51C-BCA58C84A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82103B-D9FA-4DD3-AD52-3BAF468903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AA0E1F-32EF-4962-83EC-19D45F06B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6B93EA-B161-43A7-81D2-EA9395F93F46}" type="datetimeFigureOut">
              <a:rPr lang="tr-TR" smtClean="0"/>
              <a:t>21.01.2026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FB3172-52E5-4141-8DF0-FAC1AD7401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ED0AE5-482A-4A0C-AA29-C8D3E106C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324780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27461CB-D2B2-4369-87D6-D81240D08E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95DF50-B85A-4266-922C-9C92C969DE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105E83-BA24-417C-BAF7-F14D84F528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6B93EA-B161-43A7-81D2-EA9395F93F46}" type="datetimeFigureOut">
              <a:rPr lang="tr-TR" smtClean="0"/>
              <a:t>21.01.2026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818D95-9451-4168-A42E-4547CFFB0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921CF-1892-4FB7-93FD-91417C13D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838670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C3A40BF-36B1-425E-BF92-4B657DA50F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C071CA-DFB0-49E4-B976-3C43C07CB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0A0592-9286-4A23-9325-D0E702173C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6B93EA-B161-43A7-81D2-EA9395F93F46}" type="datetimeFigureOut">
              <a:rPr lang="tr-TR" smtClean="0"/>
              <a:t>21.01.2026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07DB73-F0F2-4349-A509-3F79A08785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518E2-8F24-4EAF-B461-5F79985249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808187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4A59E-7F34-4C29-A64B-6F54EF74C9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E93C9A-651F-48C7-B9D9-67BE5477EC1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576937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5A02C8-731E-48B1-AF23-074D24451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A8D04E-8231-4EB8-8A57-4762885D2B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902980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D812A-7636-404A-9EEE-EF98F504A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A*</a:t>
            </a:r>
            <a:endParaRPr lang="tr-TR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ADF3DE4-072B-481A-A980-D5AA4A7840BE}"/>
              </a:ext>
            </a:extLst>
          </p:cNvPr>
          <p:cNvSpPr/>
          <p:nvPr/>
        </p:nvSpPr>
        <p:spPr>
          <a:xfrm>
            <a:off x="838200" y="1825625"/>
            <a:ext cx="2290527" cy="8148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Pop the Node with lowest f value in OPEN List</a:t>
            </a:r>
            <a:endParaRPr lang="tr-T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B3D059-710D-4CA5-BD0B-29EC0BBF570A}"/>
              </a:ext>
            </a:extLst>
          </p:cNvPr>
          <p:cNvSpPr/>
          <p:nvPr/>
        </p:nvSpPr>
        <p:spPr>
          <a:xfrm>
            <a:off x="4608214" y="1825625"/>
            <a:ext cx="2353901" cy="7817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Generate all successor</a:t>
            </a:r>
            <a:endParaRPr lang="tr-TR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7BD7F1-0714-49E9-AC45-8F85E3AFC033}"/>
              </a:ext>
            </a:extLst>
          </p:cNvPr>
          <p:cNvSpPr/>
          <p:nvPr/>
        </p:nvSpPr>
        <p:spPr>
          <a:xfrm>
            <a:off x="8882204" y="1825625"/>
            <a:ext cx="2353901" cy="7817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Return the optimal path</a:t>
            </a:r>
            <a:endParaRPr lang="tr-TR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8F0FEF-BB6D-4CD9-8C03-EC7A06965993}"/>
              </a:ext>
            </a:extLst>
          </p:cNvPr>
          <p:cNvSpPr/>
          <p:nvPr/>
        </p:nvSpPr>
        <p:spPr>
          <a:xfrm>
            <a:off x="4608213" y="5546725"/>
            <a:ext cx="2353901" cy="7817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Check if it is in OPEN or CLOSE list</a:t>
            </a:r>
            <a:endParaRPr lang="tr-TR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61D68A2-95CD-44A5-9ABF-27339BEF8B0A}"/>
              </a:ext>
            </a:extLst>
          </p:cNvPr>
          <p:cNvSpPr/>
          <p:nvPr/>
        </p:nvSpPr>
        <p:spPr>
          <a:xfrm>
            <a:off x="838200" y="5530127"/>
            <a:ext cx="2353901" cy="7817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 successor to OPEN List</a:t>
            </a:r>
            <a:endParaRPr lang="tr-TR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4D9B1-C621-44C5-9A87-FBBBE3659650}"/>
              </a:ext>
            </a:extLst>
          </p:cNvPr>
          <p:cNvCxnSpPr>
            <a:stCxn id="4" idx="3"/>
            <a:endCxn id="5" idx="1"/>
          </p:cNvCxnSpPr>
          <p:nvPr/>
        </p:nvCxnSpPr>
        <p:spPr>
          <a:xfrm flipV="1">
            <a:off x="3128727" y="2216512"/>
            <a:ext cx="1479487" cy="1651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EDA39F3-AE0E-42CE-8C89-B8851C4C9A4B}"/>
              </a:ext>
            </a:extLst>
          </p:cNvPr>
          <p:cNvCxnSpPr>
            <a:stCxn id="5" idx="3"/>
            <a:endCxn id="9" idx="1"/>
          </p:cNvCxnSpPr>
          <p:nvPr/>
        </p:nvCxnSpPr>
        <p:spPr>
          <a:xfrm>
            <a:off x="6962115" y="2216512"/>
            <a:ext cx="19200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1B31D4E-0522-4D56-82C3-089EEA27A028}"/>
              </a:ext>
            </a:extLst>
          </p:cNvPr>
          <p:cNvCxnSpPr>
            <a:cxnSpLocks/>
            <a:stCxn id="5" idx="2"/>
            <a:endCxn id="29" idx="0"/>
          </p:cNvCxnSpPr>
          <p:nvPr/>
        </p:nvCxnSpPr>
        <p:spPr>
          <a:xfrm flipH="1">
            <a:off x="5785164" y="2607398"/>
            <a:ext cx="1" cy="108699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FFF5466-E2B9-4E68-8BB5-F0F2BA46D25B}"/>
              </a:ext>
            </a:extLst>
          </p:cNvPr>
          <p:cNvCxnSpPr>
            <a:stCxn id="10" idx="1"/>
            <a:endCxn id="11" idx="3"/>
          </p:cNvCxnSpPr>
          <p:nvPr/>
        </p:nvCxnSpPr>
        <p:spPr>
          <a:xfrm flipH="1" flipV="1">
            <a:off x="3192101" y="5921014"/>
            <a:ext cx="1416112" cy="1659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5D759D0-FB47-4AF8-B23F-9C5FF2673173}"/>
              </a:ext>
            </a:extLst>
          </p:cNvPr>
          <p:cNvCxnSpPr>
            <a:stCxn id="11" idx="0"/>
            <a:endCxn id="4" idx="2"/>
          </p:cNvCxnSpPr>
          <p:nvPr/>
        </p:nvCxnSpPr>
        <p:spPr>
          <a:xfrm flipH="1" flipV="1">
            <a:off x="1983464" y="2640437"/>
            <a:ext cx="31687" cy="288969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C9FB6BD-1A07-430F-9B5F-628C72AD0540}"/>
              </a:ext>
            </a:extLst>
          </p:cNvPr>
          <p:cNvSpPr txBox="1"/>
          <p:nvPr/>
        </p:nvSpPr>
        <p:spPr>
          <a:xfrm>
            <a:off x="7013418" y="1870891"/>
            <a:ext cx="18174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it is on the goal</a:t>
            </a:r>
            <a:endParaRPr lang="tr-TR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1648759-4D55-4FE2-8084-C76EC2C928A4}"/>
              </a:ext>
            </a:extLst>
          </p:cNvPr>
          <p:cNvSpPr/>
          <p:nvPr/>
        </p:nvSpPr>
        <p:spPr>
          <a:xfrm>
            <a:off x="4608213" y="3694395"/>
            <a:ext cx="2353901" cy="7817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Calculate f value</a:t>
            </a:r>
            <a:endParaRPr lang="tr-TR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90C4FCA-EC21-441B-8752-B9C1A1DE0BC3}"/>
              </a:ext>
            </a:extLst>
          </p:cNvPr>
          <p:cNvCxnSpPr>
            <a:stCxn id="29" idx="2"/>
            <a:endCxn id="10" idx="0"/>
          </p:cNvCxnSpPr>
          <p:nvPr/>
        </p:nvCxnSpPr>
        <p:spPr>
          <a:xfrm>
            <a:off x="5785164" y="4476168"/>
            <a:ext cx="0" cy="107055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F97F16A5-A79B-4BAF-B17F-C0D408DB539E}"/>
              </a:ext>
            </a:extLst>
          </p:cNvPr>
          <p:cNvSpPr txBox="1"/>
          <p:nvPr/>
        </p:nvSpPr>
        <p:spPr>
          <a:xfrm>
            <a:off x="5785163" y="2897109"/>
            <a:ext cx="26564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else</a:t>
            </a:r>
            <a:endParaRPr lang="tr-TR" dirty="0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9214D12-D8B2-4C0F-BB53-69F37110F6BE}"/>
              </a:ext>
            </a:extLst>
          </p:cNvPr>
          <p:cNvCxnSpPr>
            <a:endCxn id="4" idx="2"/>
          </p:cNvCxnSpPr>
          <p:nvPr/>
        </p:nvCxnSpPr>
        <p:spPr>
          <a:xfrm flipH="1" flipV="1">
            <a:off x="1983464" y="2640437"/>
            <a:ext cx="2624749" cy="328057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75C6CE56-0733-44A4-9B27-6E66C3B94AC7}"/>
              </a:ext>
            </a:extLst>
          </p:cNvPr>
          <p:cNvSpPr txBox="1"/>
          <p:nvPr/>
        </p:nvSpPr>
        <p:spPr>
          <a:xfrm>
            <a:off x="3417683" y="5954053"/>
            <a:ext cx="12222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 in</a:t>
            </a:r>
            <a:endParaRPr lang="tr-TR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AF3FFF5-6FE0-4A6E-8075-E1B13B75672D}"/>
              </a:ext>
            </a:extLst>
          </p:cNvPr>
          <p:cNvSpPr txBox="1"/>
          <p:nvPr/>
        </p:nvSpPr>
        <p:spPr>
          <a:xfrm>
            <a:off x="3192101" y="3911394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4886566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4CACE-040B-4368-AB79-9EC4D5CB4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A*</a:t>
            </a:r>
            <a:endParaRPr lang="tr-T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C9A1D4-CB3D-43CF-9CA9-96F6F3157D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2700" dirty="0"/>
                  <a:t>the problem is exponential growth of state space in the number of agent</a:t>
                </a:r>
              </a:p>
              <a:p>
                <a:pPr lvl="1"/>
                <a:r>
                  <a:rPr lang="en-US" sz="2000" dirty="0"/>
                  <a:t>For 1 agent b, for 2 agent b</a:t>
                </a:r>
                <a:r>
                  <a:rPr lang="tr-TR" sz="2000" dirty="0"/>
                  <a:t>²</a:t>
                </a:r>
                <a:r>
                  <a:rPr lang="en-US" sz="2000" dirty="0"/>
                  <a:t>, branching factor = O(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sz="2000" dirty="0"/>
                  <a:t>)</a:t>
                </a:r>
              </a:p>
              <a:p>
                <a:pPr marL="457200" lvl="1" indent="0">
                  <a:buNone/>
                </a:pPr>
                <a:endParaRPr lang="en-US" sz="2000" dirty="0"/>
              </a:p>
              <a:p>
                <a:r>
                  <a:rPr lang="en-US" sz="2700" dirty="0"/>
                  <a:t>Independence Detection(ID) framework</a:t>
                </a:r>
              </a:p>
              <a:p>
                <a:pPr lvl="1"/>
                <a:r>
                  <a:rPr lang="en-US" sz="2000" dirty="0"/>
                  <a:t>With ID, 2 agents state space may reduce to b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C9A1D4-CB3D-43CF-9CA9-96F6F3157D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86" t="-2101" r="-696"/>
                </a:stretch>
              </a:blipFill>
            </p:spPr>
            <p:txBody>
              <a:bodyPr/>
              <a:lstStyle/>
              <a:p>
                <a:r>
                  <a:rPr lang="tr-T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6FBE0F8B-4D76-4765-B274-11C427D853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3744" y="3096285"/>
            <a:ext cx="4270056" cy="2469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14628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6B05A8-CB97-4C42-92D5-683B89154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CBS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EFB3EA-E5EB-47F7-9580-C3C25B67E4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Motivation: reduce state space by not use joint agents</a:t>
            </a:r>
            <a:endParaRPr lang="tr-T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AFED8A-AD5C-404E-97B8-182B7542A4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4687" y="2713084"/>
            <a:ext cx="3482626" cy="3399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2402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A7BCB-50EF-4CE5-AEBC-2A216CA77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CBS</a:t>
            </a:r>
            <a:endParaRPr lang="tr-T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62F609-A3A0-4B7F-8A37-B59C3843B0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High-Level: Constraint tree </a:t>
                </a:r>
              </a:p>
              <a:p>
                <a:pPr lvl="1"/>
                <a:r>
                  <a:rPr lang="en-US" dirty="0"/>
                  <a:t>Set of Constraint: {(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), …}</a:t>
                </a:r>
              </a:p>
              <a:p>
                <a:pPr lvl="1"/>
                <a:r>
                  <a:rPr lang="en-US" dirty="0"/>
                  <a:t>Solution</a:t>
                </a:r>
              </a:p>
              <a:p>
                <a:pPr lvl="1"/>
                <a:r>
                  <a:rPr lang="en-US" dirty="0"/>
                  <a:t>Total Cost (f-value of node)</a:t>
                </a:r>
                <a:endParaRPr lang="tr-T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62F609-A3A0-4B7F-8A37-B59C3843B0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tr-T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2BD08DC4-CE0C-4545-8CAC-DAEA598229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422" y="3548283"/>
            <a:ext cx="3626565" cy="276361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5BEA2F8-654E-4D72-9BB3-4584FCDAE2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3430" y="3682854"/>
            <a:ext cx="2555239" cy="2494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9904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DED9F-D594-48E7-BBAD-290BE8B2D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CBS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5E9715-7B23-4555-96A9-B6FA7963A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Low-Level: any optimal single agent pathfinding algorithm which can satisfies all the constraint</a:t>
            </a:r>
            <a:endParaRPr lang="tr-T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BA8906-E22E-4338-9FB7-0E36DEB25B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3529" y="3413346"/>
            <a:ext cx="3626565" cy="276361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EB7CB65-31D8-4F21-B9C1-2EE0F179A4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4912" y="3548283"/>
            <a:ext cx="2555239" cy="2494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308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67F7C-DFF2-483C-8B9F-3BE3C7165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CBS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16626-3EEB-41FD-A970-07EC85795D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tr-T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AD5471-6367-4A53-BF4A-CFDAA73741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690688"/>
            <a:ext cx="7943661" cy="4667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52734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57100F0-5E17-4E28-803F-0E8C9C4EB1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8347" y="2477771"/>
            <a:ext cx="6165453" cy="401510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9B09484-B546-4A48-A641-AE095CE08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 of A* and CBS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858EBE-EF96-4AC4-A5D7-17D1FD4BF7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CBS will expand 8 + 4 · 4 + 6 · 5 = 54 low level nodes</a:t>
            </a:r>
          </a:p>
          <a:p>
            <a:r>
              <a:rPr lang="en-US" dirty="0"/>
              <a:t>A* will expand 5 + 3 = 8 low level nodes</a:t>
            </a:r>
            <a:endParaRPr lang="tr-TR" dirty="0"/>
          </a:p>
          <a:p>
            <a:endParaRPr lang="tr-T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65B89E3-2C95-46D1-9747-451896B2E7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779" y="3429000"/>
            <a:ext cx="4244190" cy="2969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309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2AE60-011F-4352-822F-2BD9EC90D3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/>
              <a:t>DAO </a:t>
            </a:r>
            <a:r>
              <a:rPr lang="tr-TR" dirty="0" err="1"/>
              <a:t>maps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2662C-CE6A-4D20-AB4A-136CBE1F5A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tr-T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A4A2CF-269B-4E25-8D32-3D9F9E8A35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9977" y="615635"/>
            <a:ext cx="5809028" cy="5753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8181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67491-8677-470F-AFE3-97D113884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MA-CBS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2479E4-39A3-4E1B-99F0-A6B7033968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Idea: remedies poor behavior of CBS when a set of agents is strongly coupled by automatically merging those agent into a meta agent</a:t>
            </a:r>
          </a:p>
          <a:p>
            <a:r>
              <a:rPr lang="en-US" dirty="0"/>
              <a:t>Important Concepts with this:</a:t>
            </a:r>
          </a:p>
          <a:p>
            <a:pPr lvl="1"/>
            <a:r>
              <a:rPr lang="en-US" dirty="0"/>
              <a:t>Merge policy</a:t>
            </a:r>
          </a:p>
          <a:p>
            <a:pPr lvl="1"/>
            <a:r>
              <a:rPr lang="en-US" dirty="0"/>
              <a:t>Merging constraints</a:t>
            </a:r>
          </a:p>
        </p:txBody>
      </p:sp>
    </p:spTree>
    <p:extLst>
      <p:ext uri="{BB962C8B-B14F-4D97-AF65-F5344CB8AC3E}">
        <p14:creationId xmlns:p14="http://schemas.microsoft.com/office/powerpoint/2010/main" val="632286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A8524-95F4-4051-B51C-462CE88A4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policy</a:t>
            </a:r>
            <a:endParaRPr lang="tr-T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9EC029-A22B-43BC-BC41-96F1F108D4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B threshold</a:t>
                </a:r>
              </a:p>
              <a:p>
                <a:r>
                  <a:rPr lang="en-US" dirty="0"/>
                  <a:t>Conflict Matrix(CM)</a:t>
                </a:r>
              </a:p>
              <a:p>
                <a:r>
                  <a:rPr lang="en-US" dirty="0">
                    <a:ea typeface="Cambria Math" panose="02040503050406030204" pitchFamily="18" charset="0"/>
                  </a:rPr>
                  <a:t>Merge 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𝐶𝑀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𝑜𝑣𝑒𝑟𝑎𝑙𝑙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𝑎𝑛𝑑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tr-TR" dirty="0" err="1"/>
                  <a:t>Denote</a:t>
                </a:r>
                <a:r>
                  <a:rPr lang="en-US" dirty="0"/>
                  <a:t>d by MA-CBS(B)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9EC029-A22B-43BC-BC41-96F1F108D4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tr-T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358876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0E191-CBE7-4113-8390-769B15972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Merging constraints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F884FD-3A78-40BE-9AAC-4499B65FA7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8556030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item1.xml><?xml version="1.0" encoding="utf-8"?>
<sisl xmlns:xsd="http://www.w3.org/2001/XMLSchema" xmlns:xsi="http://www.w3.org/2001/XMLSchema-instance" xmlns="http://www.boldonjames.com/2008/01/sie/internal/label" sislVersion="0" policy="3b2a402a-7aa0-470f-8732-c65458ab17ee" origin="userSelected">
  <element uid="d4613254-63f1-4b12-8c89-ea1ca2a88f12" value=""/>
</sisl>
</file>

<file path=customXml/itemProps1.xml><?xml version="1.0" encoding="utf-8"?>
<ds:datastoreItem xmlns:ds="http://schemas.openxmlformats.org/officeDocument/2006/customXml" ds:itemID="{84C168F1-A0A0-4E78-B816-A5204FF08685}">
  <ds:schemaRefs>
    <ds:schemaRef ds:uri="http://www.w3.org/2001/XMLSchema"/>
    <ds:schemaRef ds:uri="http://www.boldonjames.com/2008/01/sie/internal/label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236</TotalTime>
  <Words>293</Words>
  <Application>Microsoft Office PowerPoint</Application>
  <PresentationFormat>Widescreen</PresentationFormat>
  <Paragraphs>68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A*</vt:lpstr>
      <vt:lpstr>A*</vt:lpstr>
      <vt:lpstr>CBS</vt:lpstr>
      <vt:lpstr>CBS</vt:lpstr>
      <vt:lpstr>CBS</vt:lpstr>
      <vt:lpstr>CBS</vt:lpstr>
      <vt:lpstr>Comparison of A* and CBS</vt:lpstr>
      <vt:lpstr>DAO maps</vt:lpstr>
      <vt:lpstr>MA-CBS</vt:lpstr>
      <vt:lpstr>Merge policy</vt:lpstr>
      <vt:lpstr>Merging constraints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Demir Doruk Dilek (Tusaş - Türk Havacılık Ve Uzay Sanayii A.ş.)</dc:creator>
  <cp:lastModifiedBy>Demir Doruk Dilek (Tusaş - Türk Havacılık Ve Uzay Sanayii A.ş.)</cp:lastModifiedBy>
  <cp:revision>22</cp:revision>
  <dcterms:created xsi:type="dcterms:W3CDTF">2026-01-20T10:31:49Z</dcterms:created>
  <dcterms:modified xsi:type="dcterms:W3CDTF">2026-01-21T13:14:17Z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IndexRef">
    <vt:lpwstr>1d6c1949-222a-4666-81d7-acb499cae167</vt:lpwstr>
  </property>
  <property fmtid="{D5CDD505-2E9C-101B-9397-08002B2CF9AE}" pid="3" name="bjClsUserRVM">
    <vt:lpwstr>[]</vt:lpwstr>
  </property>
  <property fmtid="{D5CDD505-2E9C-101B-9397-08002B2CF9AE}" pid="4" name="bjSaver">
    <vt:lpwstr>nBAEFT9rUYZ8OILUNNvH3eLmxKfdA6FE</vt:lpwstr>
  </property>
  <property fmtid="{D5CDD505-2E9C-101B-9397-08002B2CF9AE}" pid="5" name="bjDocumentLabelXML">
    <vt:lpwstr>&lt;?xml version="1.0" encoding="us-ascii"?&gt;&lt;sisl xmlns:xsd="http://www.w3.org/2001/XMLSchema" xmlns:xsi="http://www.w3.org/2001/XMLSchema-instance" sislVersion="0" policy="3b2a402a-7aa0-470f-8732-c65458ab17ee" origin="userSelected" xmlns="http://www.boldonj</vt:lpwstr>
  </property>
  <property fmtid="{D5CDD505-2E9C-101B-9397-08002B2CF9AE}" pid="6" name="bjDocumentLabelXML-0">
    <vt:lpwstr>ames.com/2008/01/sie/internal/label"&gt;&lt;element uid="d4613254-63f1-4b12-8c89-ea1ca2a88f12" value="" /&gt;&lt;/sisl&gt;</vt:lpwstr>
  </property>
  <property fmtid="{D5CDD505-2E9C-101B-9397-08002B2CF9AE}" pid="7" name="bjDocumentSecurityLabel">
    <vt:lpwstr>TASNİF DIŞI</vt:lpwstr>
  </property>
</Properties>
</file>