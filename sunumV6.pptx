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29"/>
  </p:notesMasterIdLst>
  <p:handoutMasterIdLst>
    <p:handoutMasterId r:id="rId30"/>
  </p:handoutMasterIdLst>
  <p:sldIdLst>
    <p:sldId id="256" r:id="rId3"/>
    <p:sldId id="257" r:id="rId4"/>
    <p:sldId id="258" r:id="rId5"/>
    <p:sldId id="259" r:id="rId6"/>
    <p:sldId id="260" r:id="rId7"/>
    <p:sldId id="281" r:id="rId8"/>
    <p:sldId id="261" r:id="rId9"/>
    <p:sldId id="262" r:id="rId10"/>
    <p:sldId id="270" r:id="rId11"/>
    <p:sldId id="271" r:id="rId12"/>
    <p:sldId id="272" r:id="rId13"/>
    <p:sldId id="263" r:id="rId14"/>
    <p:sldId id="274" r:id="rId15"/>
    <p:sldId id="264" r:id="rId16"/>
    <p:sldId id="282" r:id="rId17"/>
    <p:sldId id="273" r:id="rId18"/>
    <p:sldId id="265" r:id="rId19"/>
    <p:sldId id="266" r:id="rId20"/>
    <p:sldId id="267" r:id="rId21"/>
    <p:sldId id="268" r:id="rId22"/>
    <p:sldId id="280" r:id="rId23"/>
    <p:sldId id="275" r:id="rId24"/>
    <p:sldId id="277" r:id="rId25"/>
    <p:sldId id="276" r:id="rId26"/>
    <p:sldId id="279" r:id="rId27"/>
    <p:sldId id="278" r:id="rId2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12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CC66CE-7B5D-4469-B85C-610327FF55DB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tr-TR" sz="1100" u="sng">
                <a:solidFill>
                  <a:srgbClr val="000000"/>
                </a:solidFill>
                <a:latin typeface="Calibri" panose="020F0502020204030204" pitchFamily="34" charset="0"/>
              </a:rPr>
              <a:t>TASNİF DIŞI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C507E-DAE8-404C-BAD5-E6968C0F05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136C7-FB4F-4486-A3C2-378AD4BCA59E}" type="datetimeFigureOut">
              <a:rPr lang="tr-TR" smtClean="0"/>
              <a:t>28.01.2026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C5B2F-7F1B-4E62-9794-B4574ACAD1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43665-9484-4F1E-A40E-5E34B42B3C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B86882-B05F-4CBA-AF68-8C179CE687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049022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tr-TR" sz="1100" b="0" i="0" u="sng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r>
              <a:rPr lang="tr-TR"/>
              <a:t>TASNİF DIŞI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75F1C-96D1-4385-A770-21325CBD7C70}" type="datetimeFigureOut">
              <a:rPr lang="tr-TR" smtClean="0"/>
              <a:t>28.01.2026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8BBDD-C3B0-48D3-84B8-B335C26FBCD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817378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5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1261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4018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9809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18031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09879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2581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9182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1584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5669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114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7457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3975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4987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83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6484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53933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8345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6334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22002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0815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49147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61982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4222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38188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71229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6391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1C553-840C-4E21-8421-4A2AFD2F3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8C85A-41FC-4323-ABAA-8412CA746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F12A7-D9CE-45E3-B580-F80350E9F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D0F9-C69A-4DAD-9822-657E93D18B16}" type="datetime1">
              <a:rPr lang="tr-TR" smtClean="0"/>
              <a:t>28.01.2026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9ADC0-C6FB-4172-B68B-6F4E4E13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9E3D9-FF6A-4EBA-916E-8EE18C6D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456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52E39-2B91-40C1-B7C2-AEEB5BD8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35174-FF03-4749-B08A-76B342321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D2E86-5F26-475B-8D00-4DFF32AA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EC6C7-06AD-4535-B763-96EA61EE6375}" type="datetime1">
              <a:rPr lang="tr-TR" smtClean="0"/>
              <a:t>28.01.2026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3FE42-DEEC-4139-BA4B-FE4740D6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76AC-B828-4842-8CB7-9D3E1381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286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CFF74-EDA2-48E8-ADE9-F705064AE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6A8980-06E2-4119-8BC0-E5CEDB53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DD170-2B24-4EF2-839B-95523F088740}" type="datetime1">
              <a:rPr lang="tr-TR" smtClean="0"/>
              <a:t>28.01.2026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0046F-3832-4859-81DC-5C6C8EC6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1F030F-D7CE-4B31-A686-FB19207E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0EDB7E5-F3EF-4AAA-857B-FF758348B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48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7DA7-8280-4765-B634-95CE1721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3BAE9-07E0-408C-B4A9-50CD99AEE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EB96C-C25D-4580-9FAA-53C55A8D0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E50F0-007E-41C6-8715-1A751CF1B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F3D2-F7D3-4F4A-96EA-9F225C6F3DBC}" type="datetime1">
              <a:rPr lang="tr-TR" smtClean="0"/>
              <a:t>28.01.2026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C07F2-6121-4F02-80AC-A445959E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ACABD-86D5-4B4F-B7D2-DAC964EB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748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B052-59BE-4651-BC79-353B5652E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7C2EC-F24F-439A-81B2-C18C4ABA2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EDBAC-BCC5-41A3-A221-C7BF06CD2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B7258-0289-4DF5-9A85-79876B535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9CF78-AB13-4A3C-988F-AF026C09C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267B3-9A0A-4FA5-B41D-7A2B13726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F2CEC-19D4-4CDA-BD34-0453D04BC91F}" type="datetime1">
              <a:rPr lang="tr-TR" smtClean="0"/>
              <a:t>28.01.2026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AA2A1A-555B-4986-A5F3-0FEFE42B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89F86-205A-4449-BF7B-BF5B1AC7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459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5CBF-87F2-4B97-A5B6-A122F498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CDED0-BCFA-4B20-A9C9-5AC86C878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5682-C3D2-47D8-9ABB-ED9C7D68DF14}" type="datetime1">
              <a:rPr lang="tr-TR" smtClean="0"/>
              <a:t>28.01.2026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8F174-7A71-4690-91F6-629121EC5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98682-DDF2-460A-99E8-34CF64A1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5266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D0C2E-D2F7-459B-A4AC-C270B064B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BDAB-0756-491D-9DEA-75AA95454EA5}" type="datetime1">
              <a:rPr lang="tr-TR" smtClean="0"/>
              <a:t>28.01.2026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D1EBF-BEE1-4A67-B5E4-10A53D7B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AE18A-187B-4A00-984B-32A4F01F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45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52B1-51B6-4AFF-A724-C91FBC9AF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1FB8D-B703-4D7E-B5A6-D6634DCF9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BC7C9-2036-42EE-94D6-0BFAD1F1E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51C32-71F4-41E7-B3C4-8FA4B4F02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6040-17A8-4314-BB6D-05727CFD3CBF}" type="datetime1">
              <a:rPr lang="tr-TR" smtClean="0"/>
              <a:t>28.01.2026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DFF51-5059-43AB-8B6A-B92225C0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8B25B-EBD3-40DF-A6D7-00DF0DDFF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32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20F9-57FE-493B-880A-93DE853B4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99876-F043-4243-9869-5192E5AC6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CB1D1-5AA4-49C2-8BB6-E5BEC8AC4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0DB71-F209-4282-81A6-08948FC6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52022-39F4-48AA-B984-FE3C96790416}" type="datetime1">
              <a:rPr lang="tr-TR" smtClean="0"/>
              <a:t>28.01.2026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73D6C-5765-4E34-A9A1-D604D89B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DC206-641F-49A1-84F6-9DFACDE0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8883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3E306-944E-47D6-A51C-BCA58C84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2103B-D9FA-4DD3-AD52-3BAF46890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A0E1F-32EF-4962-83EC-19D45F06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E83-06BF-48D1-904C-45BD28A543C2}" type="datetime1">
              <a:rPr lang="tr-TR" smtClean="0"/>
              <a:t>28.01.2026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B3172-52E5-4141-8DF0-FAC1AD74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D0AE5-482A-4A0C-AA29-C8D3E106C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2478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461CB-D2B2-4369-87D6-D81240D08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95DF50-B85A-4266-922C-9C92C969D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05E83-BA24-417C-BAF7-F14D84F5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4FCA-AEC8-4A10-A5F6-696D850CFB62}" type="datetime1">
              <a:rPr lang="tr-TR" smtClean="0"/>
              <a:t>28.01.2026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18D95-9451-4168-A42E-4547CFFB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921CF-1892-4FB7-93FD-91417C13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3867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3A40BF-36B1-425E-BF92-4B657DA50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071CA-DFB0-49E4-B976-3C43C07CB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A0592-9286-4A23-9325-D0E702173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6F17C-CD24-48C6-B336-87BD176625D7}" type="datetime1">
              <a:rPr lang="tr-TR" smtClean="0"/>
              <a:t>28.01.2026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DB73-F0F2-4349-A509-3F79A0878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518E2-8F24-4EAF-B461-5F7998524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81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4A59E-7F34-4C29-A64B-6F54EF74C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Conflict-based search for optimal multi-agent pathfinding</a:t>
            </a:r>
            <a:endParaRPr lang="tr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93C9A-651F-48C7-B9D9-67BE5477EC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Demir Doruk Dilek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  <a:p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Guni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Sharon, Roni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Sterm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Ariel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Feiner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Nathen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Sturtevent</a:t>
            </a:r>
            <a:endParaRPr lang="tr-TR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B10B1-9C92-4107-B279-7A1DDBD0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</a:t>
            </a:fld>
            <a:endParaRPr lang="tr-TR"/>
          </a:p>
        </p:txBody>
      </p:sp>
      <p:pic>
        <p:nvPicPr>
          <p:cNvPr id="1026" name="Picture 2" descr="Dosya:Tai logo.png - Vikipedi">
            <a:extLst>
              <a:ext uri="{FF2B5EF4-FFF2-40B4-BE49-F238E27FC236}">
                <a16:creationId xmlns:a16="http://schemas.microsoft.com/office/drawing/2014/main" id="{1FEEC096-1084-4AA8-8679-C0AFA75F9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0970" y="9783"/>
            <a:ext cx="3191030" cy="165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69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02C8-731E-48B1-AF23-074D24451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8D04E-8231-4EB8-8A57-4762885D2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A*</a:t>
            </a:r>
          </a:p>
          <a:p>
            <a:r>
              <a:rPr lang="en-US" dirty="0"/>
              <a:t>CBS (Conflict-based Search)</a:t>
            </a:r>
          </a:p>
          <a:p>
            <a:pPr lvl="1"/>
            <a:r>
              <a:rPr lang="en-US" dirty="0"/>
              <a:t>High-level</a:t>
            </a:r>
          </a:p>
          <a:p>
            <a:pPr lvl="1"/>
            <a:r>
              <a:rPr lang="en-US" dirty="0"/>
              <a:t>Low-level</a:t>
            </a:r>
          </a:p>
          <a:p>
            <a:pPr lvl="1"/>
            <a:r>
              <a:rPr lang="en-US" dirty="0"/>
              <a:t>Comparison of A* and CBS</a:t>
            </a:r>
          </a:p>
          <a:p>
            <a:pPr lvl="1"/>
            <a:r>
              <a:rPr lang="en-US" dirty="0"/>
              <a:t>Theorical Analysis of CBS</a:t>
            </a:r>
          </a:p>
          <a:p>
            <a:pPr lvl="1"/>
            <a:r>
              <a:rPr lang="en-US" dirty="0"/>
              <a:t>Experimental results</a:t>
            </a:r>
          </a:p>
          <a:p>
            <a:r>
              <a:rPr lang="en-US" dirty="0"/>
              <a:t>MA-CBS (Meta-agent Conflict-based Search)</a:t>
            </a:r>
          </a:p>
          <a:p>
            <a:pPr lvl="1"/>
            <a:r>
              <a:rPr lang="en-US" dirty="0"/>
              <a:t>Merge policy</a:t>
            </a:r>
          </a:p>
          <a:p>
            <a:pPr lvl="1"/>
            <a:r>
              <a:rPr lang="en-US" dirty="0"/>
              <a:t>Merging constraints</a:t>
            </a:r>
          </a:p>
          <a:p>
            <a:pPr lvl="1"/>
            <a:r>
              <a:rPr lang="en-US" dirty="0"/>
              <a:t>Low-level</a:t>
            </a:r>
          </a:p>
          <a:p>
            <a:pPr lvl="1"/>
            <a:r>
              <a:rPr lang="en-US" dirty="0"/>
              <a:t>Experimental results</a:t>
            </a:r>
          </a:p>
          <a:p>
            <a:r>
              <a:rPr lang="en-US" dirty="0"/>
              <a:t>References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0C1ED-E168-4022-B4DB-6C6974A4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0298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D812A-7636-404A-9EEE-EF98F504A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</a:t>
            </a:r>
            <a:endParaRPr lang="tr-T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DF3DE4-072B-481A-A980-D5AA4A7840BE}"/>
              </a:ext>
            </a:extLst>
          </p:cNvPr>
          <p:cNvSpPr/>
          <p:nvPr/>
        </p:nvSpPr>
        <p:spPr>
          <a:xfrm>
            <a:off x="838200" y="1825625"/>
            <a:ext cx="2290527" cy="814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Pop the Node with lowest f value in OPEN List</a:t>
            </a:r>
            <a:endParaRPr lang="tr-T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3D059-710D-4CA5-BD0B-29EC0BBF570A}"/>
              </a:ext>
            </a:extLst>
          </p:cNvPr>
          <p:cNvSpPr/>
          <p:nvPr/>
        </p:nvSpPr>
        <p:spPr>
          <a:xfrm>
            <a:off x="4608214" y="182562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all successor</a:t>
            </a:r>
            <a:endParaRPr lang="tr-T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7BD7F1-0714-49E9-AC45-8F85E3AFC033}"/>
              </a:ext>
            </a:extLst>
          </p:cNvPr>
          <p:cNvSpPr/>
          <p:nvPr/>
        </p:nvSpPr>
        <p:spPr>
          <a:xfrm>
            <a:off x="8882204" y="182562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the optimal path</a:t>
            </a:r>
            <a:endParaRPr lang="tr-T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8F0FEF-BB6D-4CD9-8C03-EC7A06965993}"/>
              </a:ext>
            </a:extLst>
          </p:cNvPr>
          <p:cNvSpPr/>
          <p:nvPr/>
        </p:nvSpPr>
        <p:spPr>
          <a:xfrm>
            <a:off x="4608213" y="554672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if it is in OPEN or CLOSE list</a:t>
            </a:r>
            <a:endParaRPr lang="tr-T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1D68A2-95CD-44A5-9ABF-27339BEF8B0A}"/>
              </a:ext>
            </a:extLst>
          </p:cNvPr>
          <p:cNvSpPr/>
          <p:nvPr/>
        </p:nvSpPr>
        <p:spPr>
          <a:xfrm>
            <a:off x="838200" y="5530127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successor to OPEN List</a:t>
            </a:r>
            <a:endParaRPr lang="tr-TR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E4D9B1-C621-44C5-9A87-FBBBE3659650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128727" y="2216512"/>
            <a:ext cx="1479487" cy="165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DA39F3-AE0E-42CE-8C89-B8851C4C9A4B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6962115" y="2216512"/>
            <a:ext cx="19200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B31D4E-0522-4D56-82C3-089EEA27A028}"/>
              </a:ext>
            </a:extLst>
          </p:cNvPr>
          <p:cNvCxnSpPr>
            <a:cxnSpLocks/>
            <a:stCxn id="5" idx="2"/>
            <a:endCxn id="29" idx="0"/>
          </p:cNvCxnSpPr>
          <p:nvPr/>
        </p:nvCxnSpPr>
        <p:spPr>
          <a:xfrm flipH="1">
            <a:off x="5785164" y="2607398"/>
            <a:ext cx="1" cy="10869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FF5466-E2B9-4E68-8BB5-F0F2BA46D25B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 flipV="1">
            <a:off x="3192101" y="5921014"/>
            <a:ext cx="1416112" cy="165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D759D0-FB47-4AF8-B23F-9C5FF2673173}"/>
              </a:ext>
            </a:extLst>
          </p:cNvPr>
          <p:cNvCxnSpPr>
            <a:stCxn id="11" idx="0"/>
            <a:endCxn id="4" idx="2"/>
          </p:cNvCxnSpPr>
          <p:nvPr/>
        </p:nvCxnSpPr>
        <p:spPr>
          <a:xfrm flipH="1" flipV="1">
            <a:off x="1983464" y="2640437"/>
            <a:ext cx="31687" cy="28896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C9FB6BD-1A07-430F-9B5F-628C72AD0540}"/>
              </a:ext>
            </a:extLst>
          </p:cNvPr>
          <p:cNvSpPr txBox="1"/>
          <p:nvPr/>
        </p:nvSpPr>
        <p:spPr>
          <a:xfrm>
            <a:off x="7013418" y="1870891"/>
            <a:ext cx="1817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it is on the goal</a:t>
            </a:r>
            <a:endParaRPr lang="tr-T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648759-4D55-4FE2-8084-C76EC2C928A4}"/>
              </a:ext>
            </a:extLst>
          </p:cNvPr>
          <p:cNvSpPr/>
          <p:nvPr/>
        </p:nvSpPr>
        <p:spPr>
          <a:xfrm>
            <a:off x="4608213" y="369439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Calculate f value</a:t>
            </a:r>
            <a:endParaRPr lang="tr-TR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90C4FCA-EC21-441B-8752-B9C1A1DE0BC3}"/>
              </a:ext>
            </a:extLst>
          </p:cNvPr>
          <p:cNvCxnSpPr>
            <a:stCxn id="29" idx="2"/>
            <a:endCxn id="10" idx="0"/>
          </p:cNvCxnSpPr>
          <p:nvPr/>
        </p:nvCxnSpPr>
        <p:spPr>
          <a:xfrm>
            <a:off x="5785164" y="4476168"/>
            <a:ext cx="0" cy="10705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97F16A5-A79B-4BAF-B17F-C0D408DB539E}"/>
              </a:ext>
            </a:extLst>
          </p:cNvPr>
          <p:cNvSpPr txBox="1"/>
          <p:nvPr/>
        </p:nvSpPr>
        <p:spPr>
          <a:xfrm>
            <a:off x="5785163" y="2897109"/>
            <a:ext cx="265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else</a:t>
            </a:r>
            <a:endParaRPr lang="tr-TR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9214D12-D8B2-4C0F-BB53-69F37110F6BE}"/>
              </a:ext>
            </a:extLst>
          </p:cNvPr>
          <p:cNvCxnSpPr>
            <a:endCxn id="4" idx="2"/>
          </p:cNvCxnSpPr>
          <p:nvPr/>
        </p:nvCxnSpPr>
        <p:spPr>
          <a:xfrm flipH="1" flipV="1">
            <a:off x="1983464" y="2640437"/>
            <a:ext cx="2624749" cy="32805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5C6CE56-0733-44A4-9B27-6E66C3B94AC7}"/>
              </a:ext>
            </a:extLst>
          </p:cNvPr>
          <p:cNvSpPr txBox="1"/>
          <p:nvPr/>
        </p:nvSpPr>
        <p:spPr>
          <a:xfrm>
            <a:off x="3417683" y="5954053"/>
            <a:ext cx="1222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in</a:t>
            </a:r>
            <a:endParaRPr lang="tr-TR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F3FFF5-6FE0-4A6E-8075-E1B13B75672D}"/>
              </a:ext>
            </a:extLst>
          </p:cNvPr>
          <p:cNvSpPr txBox="1"/>
          <p:nvPr/>
        </p:nvSpPr>
        <p:spPr>
          <a:xfrm>
            <a:off x="3192101" y="391139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C817C9-85A2-412D-93D1-6141041C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8656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4CACE-040B-4368-AB79-9EC4D5CB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C9A1D4-CB3D-43CF-9CA9-96F6F3157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600" dirty="0"/>
                  <a:t>The problem is exponential growth of state space in the number of agent</a:t>
                </a:r>
              </a:p>
              <a:p>
                <a:pPr lvl="1"/>
                <a:r>
                  <a:rPr lang="en-US" sz="2000" dirty="0"/>
                  <a:t>For 1 agent b, for 2 agent b</a:t>
                </a:r>
                <a:r>
                  <a:rPr lang="tr-TR" sz="2000" dirty="0"/>
                  <a:t>²</a:t>
                </a:r>
                <a:r>
                  <a:rPr lang="en-US" sz="2000" dirty="0"/>
                  <a:t>, branching factor =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sz="2700" dirty="0"/>
                  <a:t>Independence Detection(ID) framework</a:t>
                </a:r>
              </a:p>
              <a:p>
                <a:pPr lvl="1"/>
                <a:r>
                  <a:rPr lang="en-US" sz="2000" dirty="0"/>
                  <a:t>With ID, 2 agents state space may reduce to b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C9A1D4-CB3D-43CF-9CA9-96F6F3157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86" t="-210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FBE0F8B-4D76-4765-B274-11C427D85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744" y="3096285"/>
            <a:ext cx="4270056" cy="246999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FD2E1-3F40-497C-91CB-38DAE1EED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1462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B05A8-CB97-4C42-92D5-683B8915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 (Conflict-based Search)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FB3EA-E5EB-47F7-9580-C3C25B67E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CBS solve agents independently with adding constraint to prevent exponential explosion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FED8A-AD5C-404E-97B8-182B7542A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687" y="2713084"/>
            <a:ext cx="3482626" cy="339930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1D768-7B5E-4240-9974-B40D9A07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7240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F6EEC-20EA-41CB-99E2-2531DEC9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Level of 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8AAE5-978E-4E04-89FE-85570751A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level</a:t>
            </a:r>
          </a:p>
          <a:p>
            <a:pPr lvl="1"/>
            <a:r>
              <a:rPr lang="en-US" dirty="0"/>
              <a:t>Conflict detection</a:t>
            </a:r>
          </a:p>
          <a:p>
            <a:pPr lvl="1"/>
            <a:r>
              <a:rPr lang="en-US" dirty="0"/>
              <a:t>Constraint management</a:t>
            </a:r>
          </a:p>
          <a:p>
            <a:r>
              <a:rPr lang="en-US" dirty="0"/>
              <a:t>Low level</a:t>
            </a:r>
          </a:p>
          <a:p>
            <a:pPr lvl="1"/>
            <a:r>
              <a:rPr lang="en-US" dirty="0"/>
              <a:t>Optimal path finding under constraints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826F4-1488-4D5C-8F61-11AD6DED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642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EE68FF-2E48-4BEE-ACA9-0CF7B9965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237" y="2395993"/>
            <a:ext cx="3585601" cy="2732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A7BCB-50EF-4CE5-AEBC-2A216CA7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2F609-A3A0-4B7F-8A37-B59C3843B0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High-Level</a:t>
                </a:r>
              </a:p>
              <a:p>
                <a:pPr lvl="1"/>
                <a:r>
                  <a:rPr lang="en-US" dirty="0"/>
                  <a:t>Conflicts is found and add constraints to constraint tree</a:t>
                </a:r>
              </a:p>
              <a:p>
                <a:pPr lvl="1"/>
                <a:r>
                  <a:rPr lang="en-US" dirty="0"/>
                  <a:t>Constraint tree node includes</a:t>
                </a:r>
              </a:p>
              <a:p>
                <a:pPr lvl="2"/>
                <a:r>
                  <a:rPr lang="en-US" dirty="0"/>
                  <a:t>Set of Constraints: {(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), …}</a:t>
                </a:r>
              </a:p>
              <a:p>
                <a:pPr lvl="2"/>
                <a:r>
                  <a:rPr lang="en-US" dirty="0"/>
                  <a:t>A solution</a:t>
                </a:r>
              </a:p>
              <a:p>
                <a:pPr lvl="2"/>
                <a:r>
                  <a:rPr lang="en-US" dirty="0"/>
                  <a:t>Total Cost (f-value of node)</a:t>
                </a:r>
              </a:p>
              <a:p>
                <a:pPr lvl="1"/>
                <a:r>
                  <a:rPr lang="en-US" dirty="0"/>
                  <a:t>Conflicts denoted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Cost function: SoC (Sum of Cost)</a:t>
                </a:r>
              </a:p>
              <a:p>
                <a:pPr lvl="1"/>
                <a:r>
                  <a:rPr lang="en-US" dirty="0"/>
                  <a:t>Heuristic function: SIC (Sum of individual costs)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2F609-A3A0-4B7F-8A37-B59C3843B0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E24EA-E8FC-4B0A-8D39-75482669E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0990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DED9F-D594-48E7-BBAD-290BE8B2D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E9715-7B23-4555-96A9-B6FA7963A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Low-Level: any optimal single agent pathfinding algorithm which can satisfies all the constraint such as A*, can be used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BA8906-E22E-4338-9FB7-0E36DEB25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989" y="2619484"/>
            <a:ext cx="3626565" cy="2763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B7CB65-31D8-4F21-B9C1-2EE0F179A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832" y="2754239"/>
            <a:ext cx="2555239" cy="249410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72735-EAB7-4EB6-94E6-CF4B8C58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8330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A7BCB-50EF-4CE5-AEBC-2A216CA7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EA2F8-654E-4D72-9BB3-4584FCDAE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789" y="1928632"/>
            <a:ext cx="3074283" cy="30007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D08DC4-CE0C-4545-8CAC-DAEA59822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306" y="1690688"/>
            <a:ext cx="4408588" cy="335955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11F5E6D-4E19-4964-A2D4-089C387F47BF}"/>
              </a:ext>
            </a:extLst>
          </p:cNvPr>
          <p:cNvSpPr/>
          <p:nvPr/>
        </p:nvSpPr>
        <p:spPr>
          <a:xfrm>
            <a:off x="8699209" y="2403022"/>
            <a:ext cx="220110" cy="523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3FA5CB-AA5D-406F-B75C-895157A8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9</a:t>
            </a:fld>
            <a:endParaRPr lang="tr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77A755-BDD1-4BA8-AACF-FBD8531090D9}"/>
              </a:ext>
            </a:extLst>
          </p:cNvPr>
          <p:cNvSpPr/>
          <p:nvPr/>
        </p:nvSpPr>
        <p:spPr>
          <a:xfrm>
            <a:off x="6406306" y="3016250"/>
            <a:ext cx="4702538" cy="1566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465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1565-0B36-4111-9545-5986DA5C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B65E4-8F56-4466-A6EC-1F9242F94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Conflict of k &gt; 2 agent:</a:t>
            </a:r>
          </a:p>
          <a:p>
            <a:pPr lvl="1"/>
            <a:endParaRPr lang="en-US" dirty="0"/>
          </a:p>
          <a:p>
            <a:pPr lvl="1"/>
            <a:r>
              <a:rPr lang="tr-TR" dirty="0"/>
              <a:t>k-</a:t>
            </a:r>
            <a:r>
              <a:rPr lang="tr-TR" dirty="0" err="1"/>
              <a:t>way</a:t>
            </a:r>
            <a:r>
              <a:rPr lang="tr-TR" dirty="0"/>
              <a:t> </a:t>
            </a:r>
            <a:r>
              <a:rPr lang="tr-TR" dirty="0" err="1"/>
              <a:t>branching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Binary 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0BA9B8-6138-43CA-B083-7C7EF83F0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202" y="2382307"/>
            <a:ext cx="3774778" cy="1046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E57310-7B9C-4657-8BFA-1CEC4F4B0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828" y="3985682"/>
            <a:ext cx="3838152" cy="141889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4584BF-098F-49E0-8292-148A5231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267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C9F0-A61F-45D3-A9A1-EEBCCC05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AD1DD-94E1-4010-805C-B6DD763D30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Edge conflict: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endParaRPr lang="en-US" dirty="0"/>
              </a:p>
              <a:p>
                <a:endParaRPr lang="en-US" dirty="0"/>
              </a:p>
              <a:p>
                <a:pPr marL="3200400" lvl="7" indent="0">
                  <a:buNone/>
                </a:pPr>
                <a:r>
                  <a:rPr lang="en-US" dirty="0"/>
                  <a:t>			 </a:t>
                </a:r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AD1DD-94E1-4010-805C-B6DD763D30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9B88EE3C-8C96-49B1-ACF2-31E5FEA9783C}"/>
              </a:ext>
            </a:extLst>
          </p:cNvPr>
          <p:cNvGrpSpPr/>
          <p:nvPr/>
        </p:nvGrpSpPr>
        <p:grpSpPr>
          <a:xfrm>
            <a:off x="3273519" y="1632427"/>
            <a:ext cx="3561621" cy="1635184"/>
            <a:chOff x="3403059" y="2539207"/>
            <a:chExt cx="3561621" cy="163518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B170F7F-4B23-4BA6-A753-3D0BF8D59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03059" y="2539207"/>
              <a:ext cx="3561621" cy="111633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8D351A8-3462-48CE-90A5-44F023917A6D}"/>
                    </a:ext>
                  </a:extLst>
                </p:cNvPr>
                <p:cNvSpPr txBox="1"/>
                <p:nvPr/>
              </p:nvSpPr>
              <p:spPr>
                <a:xfrm>
                  <a:off x="4450081" y="3528060"/>
                  <a:ext cx="157734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  <a:p>
                  <a:endParaRPr lang="tr-TR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8D351A8-3462-48CE-90A5-44F023917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0081" y="3528060"/>
                  <a:ext cx="1577340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tr-T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C51A9-6596-44FC-BAFC-03CF101E1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7107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67F7C-DFF2-483C-8B9F-3BE3C716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16626-3EEB-41FD-A970-07EC85795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D5471-6367-4A53-BF4A-CFDAA7374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7943661" cy="466710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98690-A694-4986-B9BC-82D127C9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5273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1B46-C94F-4C9E-BD56-E67F73765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Theorical Analysis of CBS</a:t>
            </a:r>
            <a:endParaRPr lang="tr-T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EEE31-3F0E-4603-B251-01EFAEE1A4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A* must expand X =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/>
                  <a:t> which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US" sz="2400" dirty="0"/>
                  <a:t> is set of nodes with 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CBS must expand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sz="2400" dirty="0"/>
                  <a:t> =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) low level nodes</a:t>
                </a:r>
              </a:p>
              <a:p>
                <a:r>
                  <a:rPr lang="en-US" sz="2400" dirty="0"/>
                  <a:t>CBS </a:t>
                </a:r>
                <a:r>
                  <a:rPr lang="tr-TR" sz="2400" dirty="0" err="1"/>
                  <a:t>outperform</a:t>
                </a:r>
                <a:r>
                  <a:rPr lang="en-US" sz="2400" dirty="0"/>
                  <a:t> A* when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sz="2400" dirty="0"/>
                  <a:t> </a:t>
                </a:r>
                <a:r>
                  <a:rPr lang="tr-TR" sz="2400" dirty="0"/>
                  <a:t>&lt;&lt;</a:t>
                </a:r>
                <a:r>
                  <a:rPr lang="en-US" sz="2400" dirty="0"/>
                  <a:t> X</a:t>
                </a:r>
                <a:endParaRPr lang="tr-TR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EEE31-3F0E-4603-B251-01EFAEE1A4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2A8B3-0E43-4B0E-9D38-B221E8B8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13</a:t>
            </a:fld>
            <a:endParaRPr lang="tr-T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2EEB2-15D0-4D44-B3D8-19D6FF8091B2}"/>
              </a:ext>
            </a:extLst>
          </p:cNvPr>
          <p:cNvSpPr txBox="1"/>
          <p:nvPr/>
        </p:nvSpPr>
        <p:spPr>
          <a:xfrm>
            <a:off x="742384" y="6287726"/>
            <a:ext cx="4581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C* is cost of optimal solution</a:t>
            </a:r>
            <a:endParaRPr lang="tr-T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944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7100F0-5E17-4E28-803F-0E8C9C4EB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075" y="3132264"/>
            <a:ext cx="3855274" cy="29351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B09484-B546-4A48-A641-AE095CE0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A* and CBS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58EBE-EF96-4AC4-A5D7-17D1FD4BF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CBS will expand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+14</m:t>
                    </m:r>
                  </m:oMath>
                </a14:m>
                <a:r>
                  <a:rPr lang="en-US" dirty="0"/>
                  <a:t> low level nodes</a:t>
                </a:r>
              </a:p>
              <a:p>
                <a:r>
                  <a:rPr lang="en-US" dirty="0"/>
                  <a:t>A* will expand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 dirty="0"/>
                  <a:t> nodes</a:t>
                </a:r>
                <a:endParaRPr lang="tr-TR" dirty="0"/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58EBE-EF96-4AC4-A5D7-17D1FD4BF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65B89E3-2C95-46D1-9747-451896B2E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320" y="3274736"/>
            <a:ext cx="3042304" cy="296969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30B9E-62AD-45FD-BE07-5048F739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830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7100F0-5E17-4E28-803F-0E8C9C4EB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347" y="2477771"/>
            <a:ext cx="6165453" cy="40151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B09484-B546-4A48-A641-AE095CE0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A* and 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58EBE-EF96-4AC4-A5D7-17D1FD4BF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CBS will expand 8 + 4 · 4 + 6 · 5 = 54 low level nodes</a:t>
            </a:r>
          </a:p>
          <a:p>
            <a:r>
              <a:rPr lang="en-US" dirty="0"/>
              <a:t>A* will expand 5 + 3 = 8 nodes</a:t>
            </a:r>
            <a:endParaRPr lang="tr-TR" dirty="0"/>
          </a:p>
          <a:p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5B89E3-2C95-46D1-9747-451896B2E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79" y="3429000"/>
            <a:ext cx="4244190" cy="296969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30B9E-62AD-45FD-BE07-5048F739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4345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1823E-C56F-41DB-B07A-BC9DC0F39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8x8 Grid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49683-9EF3-4C21-8B07-4A9D6644F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C9BC14-FB3F-4B54-BE46-BD55BB0F9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454" y="585008"/>
            <a:ext cx="4610743" cy="2629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4A203A-3BE4-4066-A79F-0D5C5D20A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61" y="3310304"/>
            <a:ext cx="8707065" cy="296268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D50E0-E043-4D69-8F26-70A4F725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9787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AE60-011F-4352-822F-2BD9EC90D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DAO </a:t>
            </a:r>
            <a:r>
              <a:rPr lang="en-US" dirty="0"/>
              <a:t>M</a:t>
            </a:r>
            <a:r>
              <a:rPr lang="tr-TR" dirty="0"/>
              <a:t>a</a:t>
            </a:r>
            <a:r>
              <a:rPr lang="en-US" dirty="0" err="1"/>
              <a:t>ps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2662C-CE6A-4D20-AB4A-136CBE1F5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4A2CF-269B-4E25-8D32-3D9F9E8A3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77" y="615635"/>
            <a:ext cx="5809028" cy="57534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47E1E-ABA9-4577-9E2E-474CBFFE3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2818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7491-8677-470F-AFE3-97D11388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MA-CBS (Meta-agent Conflict-based Search)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479E4-39A3-4E1B-99F0-A6B703396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Remedies poor behavior of CBS when a set of agents is frequently conflicting by automatically merging those agent into a meta agent</a:t>
            </a:r>
          </a:p>
          <a:p>
            <a:r>
              <a:rPr lang="en-US" dirty="0"/>
              <a:t>Therefore prevent the exponential growth of constraint tree</a:t>
            </a:r>
          </a:p>
          <a:p>
            <a:r>
              <a:rPr lang="en-US" dirty="0"/>
              <a:t>Important Concepts with this:</a:t>
            </a:r>
          </a:p>
          <a:p>
            <a:pPr lvl="1"/>
            <a:r>
              <a:rPr lang="en-US" dirty="0"/>
              <a:t>Merge policy</a:t>
            </a:r>
          </a:p>
          <a:p>
            <a:pPr lvl="1"/>
            <a:r>
              <a:rPr lang="en-US" dirty="0"/>
              <a:t>Merging constraints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5A021-F867-4958-AFB7-029E498D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228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A8524-95F4-4051-B51C-462CE88A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policy</a:t>
            </a:r>
            <a:endParaRPr lang="tr-T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9EC029-A22B-43BC-BC41-96F1F108D4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Uses B threshold</a:t>
                </a:r>
              </a:p>
              <a:p>
                <a:r>
                  <a:rPr lang="en-US" dirty="0"/>
                  <a:t>Stores number of conflict at Conflict Matrix(CM)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Merge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𝐶𝑀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𝑜𝑣𝑒𝑟𝑎𝑙𝑙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tr-TR" dirty="0" err="1"/>
                  <a:t>Denote</a:t>
                </a:r>
                <a:r>
                  <a:rPr lang="en-US" dirty="0"/>
                  <a:t>d by MA-CBS(B)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MA-CBS(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000" dirty="0"/>
                  <a:t>) equal to basic CBS</a:t>
                </a:r>
              </a:p>
              <a:p>
                <a:r>
                  <a:rPr lang="en-US" sz="2000" dirty="0"/>
                  <a:t>MA-CBS(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) equal to basic ID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9EC029-A22B-43BC-BC41-96F1F108D4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17B42-8A6C-4686-86A7-41E48BE5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5887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E191-CBE7-4113-8390-769B15972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constraints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F884FD-3A78-40BE-9AAC-4499B65FA7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Internal Constraints</a:t>
                </a:r>
              </a:p>
              <a:p>
                <a:pPr lvl="1"/>
                <a:r>
                  <a:rPr lang="en-US" dirty="0"/>
                  <a:t>Should not be considered since the conflict solved in low level</a:t>
                </a:r>
              </a:p>
              <a:p>
                <a:r>
                  <a:rPr lang="en-US" dirty="0"/>
                  <a:t>External Constraints</a:t>
                </a:r>
              </a:p>
              <a:p>
                <a:pPr lvl="1"/>
                <a:r>
                  <a:rPr lang="en-US" dirty="0"/>
                  <a:t>Must be include all the external conflict for apply only to original agent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ba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bar>
                          <m:barPr>
                            <m:pos m:val="top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ba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-&gt;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ba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F884FD-3A78-40BE-9AAC-4499B65FA7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58FE0-8EAE-41E4-8413-6FBA9497D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85560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F1D9-AAA0-4AC1-9F61-F5EDF147D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Level of MA-CBS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2925B-5BE5-4D14-BFEF-3A9CB37E6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 Level solver must be</a:t>
            </a:r>
          </a:p>
          <a:p>
            <a:pPr lvl="1"/>
            <a:r>
              <a:rPr lang="en-US" dirty="0"/>
              <a:t>Complete</a:t>
            </a:r>
          </a:p>
          <a:p>
            <a:pPr lvl="1"/>
            <a:r>
              <a:rPr lang="en-US" dirty="0"/>
              <a:t>Constraint handling</a:t>
            </a:r>
          </a:p>
          <a:p>
            <a:pPr lvl="1"/>
            <a:r>
              <a:rPr lang="en-US" dirty="0"/>
              <a:t>Optimal</a:t>
            </a:r>
          </a:p>
          <a:p>
            <a:endParaRPr lang="en-US" dirty="0"/>
          </a:p>
          <a:p>
            <a:r>
              <a:rPr lang="en-US" sz="2400" dirty="0"/>
              <a:t>EPEA*, M*, MA-CBS with lower merging bound can be used as low level solver</a:t>
            </a:r>
            <a:endParaRPr lang="tr-T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4B011-154C-4554-B353-D7D2440E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8060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57A8-FD19-4528-9F59-66E5CE8A9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200" dirty="0"/>
              <a:t>Run-time on DAO maps with EPEA* as low level</a:t>
            </a:r>
            <a:endParaRPr lang="tr-TR" sz="4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6FD73-17F8-46B0-ADBF-211A8FDB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22</a:t>
            </a:fld>
            <a:endParaRPr lang="tr-T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6384B-7E30-44CC-BB4E-D37A52E381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61"/>
          <a:stretch/>
        </p:blipFill>
        <p:spPr>
          <a:xfrm>
            <a:off x="2015904" y="1690688"/>
            <a:ext cx="7832917" cy="419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95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57A8-FD19-4528-9F59-66E5CE8A9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200" dirty="0"/>
              <a:t>Run-time on DAO maps with A* as low level</a:t>
            </a:r>
            <a:endParaRPr lang="tr-TR" sz="4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6FD73-17F8-46B0-ADBF-211A8FDB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23</a:t>
            </a:fld>
            <a:endParaRPr lang="tr-T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6384B-7E30-44CC-BB4E-D37A52E38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010" y="1690688"/>
            <a:ext cx="7814104" cy="41980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C3800FE-392D-4926-ADF4-C2897344EC6A}"/>
              </a:ext>
            </a:extLst>
          </p:cNvPr>
          <p:cNvSpPr/>
          <p:nvPr/>
        </p:nvSpPr>
        <p:spPr>
          <a:xfrm>
            <a:off x="5175284" y="2136618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8E7DA-FC63-48B2-9A87-E5E0C34E598A}"/>
              </a:ext>
            </a:extLst>
          </p:cNvPr>
          <p:cNvSpPr/>
          <p:nvPr/>
        </p:nvSpPr>
        <p:spPr>
          <a:xfrm>
            <a:off x="3041684" y="2435068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078F6D-19A0-4B36-9D1C-7C32EAA4407F}"/>
              </a:ext>
            </a:extLst>
          </p:cNvPr>
          <p:cNvSpPr/>
          <p:nvPr/>
        </p:nvSpPr>
        <p:spPr>
          <a:xfrm>
            <a:off x="9325098" y="2289017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96321C-EC90-4C34-84AA-3877E17A9A5D}"/>
              </a:ext>
            </a:extLst>
          </p:cNvPr>
          <p:cNvSpPr/>
          <p:nvPr/>
        </p:nvSpPr>
        <p:spPr>
          <a:xfrm>
            <a:off x="9286998" y="2584449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9ABD48-F56E-4C55-BF02-5E21EF87C257}"/>
              </a:ext>
            </a:extLst>
          </p:cNvPr>
          <p:cNvSpPr/>
          <p:nvPr/>
        </p:nvSpPr>
        <p:spPr>
          <a:xfrm>
            <a:off x="5175284" y="2731929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36B4A-E282-4A48-8CE0-D385DCDC41EA}"/>
              </a:ext>
            </a:extLst>
          </p:cNvPr>
          <p:cNvSpPr/>
          <p:nvPr/>
        </p:nvSpPr>
        <p:spPr>
          <a:xfrm>
            <a:off x="9286998" y="2866870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5D9A9A-29A9-4561-8365-EABD2A6F5D3F}"/>
              </a:ext>
            </a:extLst>
          </p:cNvPr>
          <p:cNvSpPr/>
          <p:nvPr/>
        </p:nvSpPr>
        <p:spPr>
          <a:xfrm>
            <a:off x="6153184" y="3016251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4B93BE-F149-410E-AC74-CC540A59B022}"/>
              </a:ext>
            </a:extLst>
          </p:cNvPr>
          <p:cNvSpPr/>
          <p:nvPr/>
        </p:nvSpPr>
        <p:spPr>
          <a:xfrm>
            <a:off x="6153184" y="3165632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F092C6-EB5F-487E-A5BB-1612C5A7270F}"/>
              </a:ext>
            </a:extLst>
          </p:cNvPr>
          <p:cNvSpPr/>
          <p:nvPr/>
        </p:nvSpPr>
        <p:spPr>
          <a:xfrm>
            <a:off x="6365892" y="3749005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41484D-9F8E-4614-9B4F-843771FFA47C}"/>
              </a:ext>
            </a:extLst>
          </p:cNvPr>
          <p:cNvSpPr/>
          <p:nvPr/>
        </p:nvSpPr>
        <p:spPr>
          <a:xfrm>
            <a:off x="9325098" y="3898386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5D0467-654C-4924-92D5-9B11F4FAAE0A}"/>
              </a:ext>
            </a:extLst>
          </p:cNvPr>
          <p:cNvSpPr/>
          <p:nvPr/>
        </p:nvSpPr>
        <p:spPr>
          <a:xfrm>
            <a:off x="9325098" y="4031426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699F11-B6CC-47C3-8925-9834AA9B2ADF}"/>
              </a:ext>
            </a:extLst>
          </p:cNvPr>
          <p:cNvSpPr/>
          <p:nvPr/>
        </p:nvSpPr>
        <p:spPr>
          <a:xfrm>
            <a:off x="9325098" y="4179389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285387-7BA9-4672-AEA7-090F2FEA6F17}"/>
              </a:ext>
            </a:extLst>
          </p:cNvPr>
          <p:cNvSpPr/>
          <p:nvPr/>
        </p:nvSpPr>
        <p:spPr>
          <a:xfrm>
            <a:off x="7232684" y="4330993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6BD7C7-E50F-465A-B874-6416186FABE8}"/>
              </a:ext>
            </a:extLst>
          </p:cNvPr>
          <p:cNvSpPr/>
          <p:nvPr/>
        </p:nvSpPr>
        <p:spPr>
          <a:xfrm>
            <a:off x="7232684" y="4480374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202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41912-F2D8-4C4E-A7F6-7E7333FF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DAO maps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753AA-8F12-4714-AA45-0C078F343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2A073-F623-4695-897F-AAE83257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24</a:t>
            </a:fld>
            <a:endParaRPr lang="tr-T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64AF7-E4D3-4AC7-80E7-4C77E4404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150" y="1775746"/>
            <a:ext cx="4582006" cy="483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51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3CF2-065E-4DB2-AA87-E739164F6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8F9F1-36A2-4BDE-8A96-3CDE692DE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/>
              <a:t>Jingjin</a:t>
            </a:r>
            <a:r>
              <a:rPr lang="en-US" sz="1800" dirty="0"/>
              <a:t> Yu, Daniela Rus, Pebble motion on graphs with rotations: efficient feasibility tests and planning algorithms, in: Eleventh Workshop on the Algorithmic Foundations of Robotics, 2014</a:t>
            </a:r>
          </a:p>
          <a:p>
            <a:r>
              <a:rPr lang="en-US" sz="1800" dirty="0"/>
              <a:t>Trevor S. </a:t>
            </a:r>
            <a:r>
              <a:rPr lang="en-US" sz="1800" dirty="0" err="1"/>
              <a:t>Standley</a:t>
            </a:r>
            <a:r>
              <a:rPr lang="en-US" sz="1800" dirty="0"/>
              <a:t>, Finding optimal solutions to cooperative pathfinding problems, in: AAAI, 2010</a:t>
            </a:r>
          </a:p>
          <a:p>
            <a:r>
              <a:rPr lang="en-US" sz="1800" dirty="0"/>
              <a:t>Nathan R. Sturtevant, Benchmarks for grid-based pathfinding, </a:t>
            </a:r>
            <a:r>
              <a:rPr lang="en-US" sz="1800" dirty="0" err="1"/>
              <a:t>Comput</a:t>
            </a:r>
            <a:r>
              <a:rPr lang="en-US" sz="1800" dirty="0"/>
              <a:t>. </a:t>
            </a:r>
            <a:r>
              <a:rPr lang="en-US" sz="1800" dirty="0" err="1"/>
              <a:t>Intell</a:t>
            </a:r>
            <a:r>
              <a:rPr lang="en-US" sz="1800" dirty="0"/>
              <a:t>. AI Games 4 (2) (2012) 144–148.</a:t>
            </a:r>
          </a:p>
          <a:p>
            <a:r>
              <a:rPr lang="en-US" sz="1800" dirty="0"/>
              <a:t>Rina </a:t>
            </a:r>
            <a:r>
              <a:rPr lang="en-US" sz="1800" dirty="0" err="1"/>
              <a:t>Dechter</a:t>
            </a:r>
            <a:r>
              <a:rPr lang="en-US" sz="1800" dirty="0"/>
              <a:t>, Judea Pearl, Generalized best-first search strategies and the optimality of A*, J. ACM 32 (3) (1985) 505–536.</a:t>
            </a:r>
          </a:p>
          <a:p>
            <a:r>
              <a:rPr lang="tr-TR" sz="1800" dirty="0" err="1"/>
              <a:t>Guni</a:t>
            </a:r>
            <a:r>
              <a:rPr lang="tr-TR" sz="1800" dirty="0"/>
              <a:t> </a:t>
            </a:r>
            <a:r>
              <a:rPr lang="tr-TR" sz="1800" dirty="0" err="1"/>
              <a:t>Sharon</a:t>
            </a:r>
            <a:r>
              <a:rPr lang="tr-TR" sz="1800" dirty="0"/>
              <a:t>, </a:t>
            </a:r>
            <a:r>
              <a:rPr lang="tr-TR" sz="1800" dirty="0" err="1"/>
              <a:t>Roni</a:t>
            </a:r>
            <a:r>
              <a:rPr lang="tr-TR" sz="1800" dirty="0"/>
              <a:t> </a:t>
            </a:r>
            <a:r>
              <a:rPr lang="tr-TR" sz="1800" dirty="0" err="1"/>
              <a:t>Stern</a:t>
            </a:r>
            <a:r>
              <a:rPr lang="tr-TR" sz="1800" dirty="0"/>
              <a:t>, Meir </a:t>
            </a:r>
            <a:r>
              <a:rPr lang="tr-TR" sz="1800" dirty="0" err="1"/>
              <a:t>Goldenberg</a:t>
            </a:r>
            <a:r>
              <a:rPr lang="tr-TR" sz="1800" dirty="0"/>
              <a:t>, </a:t>
            </a:r>
            <a:r>
              <a:rPr lang="tr-TR" sz="1800" dirty="0" err="1"/>
              <a:t>Ariel</a:t>
            </a:r>
            <a:r>
              <a:rPr lang="tr-TR" sz="1800" dirty="0"/>
              <a:t> </a:t>
            </a:r>
            <a:r>
              <a:rPr lang="tr-TR" sz="1800" dirty="0" err="1"/>
              <a:t>Felner</a:t>
            </a:r>
            <a:r>
              <a:rPr lang="tr-TR" sz="1800" dirty="0"/>
              <a:t>, </a:t>
            </a:r>
            <a:r>
              <a:rPr lang="tr-TR" sz="1800" dirty="0" err="1"/>
              <a:t>The</a:t>
            </a:r>
            <a:r>
              <a:rPr lang="tr-TR" sz="1800" dirty="0"/>
              <a:t> </a:t>
            </a:r>
            <a:r>
              <a:rPr lang="tr-TR" sz="1800" dirty="0" err="1"/>
              <a:t>increasing</a:t>
            </a:r>
            <a:r>
              <a:rPr lang="tr-TR" sz="1800" dirty="0"/>
              <a:t> </a:t>
            </a:r>
            <a:r>
              <a:rPr lang="tr-TR" sz="1800" dirty="0" err="1"/>
              <a:t>cost</a:t>
            </a:r>
            <a:r>
              <a:rPr lang="tr-TR" sz="1800" dirty="0"/>
              <a:t> </a:t>
            </a:r>
            <a:r>
              <a:rPr lang="tr-TR" sz="1800" dirty="0" err="1"/>
              <a:t>tree</a:t>
            </a:r>
            <a:r>
              <a:rPr lang="tr-TR" sz="1800" dirty="0"/>
              <a:t> </a:t>
            </a:r>
            <a:r>
              <a:rPr lang="tr-TR" sz="1800" dirty="0" err="1"/>
              <a:t>search</a:t>
            </a:r>
            <a:r>
              <a:rPr lang="tr-TR" sz="1800" dirty="0"/>
              <a:t> </a:t>
            </a:r>
            <a:r>
              <a:rPr lang="tr-TR" sz="1800" dirty="0" err="1"/>
              <a:t>for</a:t>
            </a:r>
            <a:r>
              <a:rPr lang="tr-TR" sz="1800" dirty="0"/>
              <a:t> optimal </a:t>
            </a:r>
            <a:r>
              <a:rPr lang="tr-TR" sz="1800" dirty="0" err="1"/>
              <a:t>multi-agent</a:t>
            </a:r>
            <a:r>
              <a:rPr lang="tr-TR" sz="1800" dirty="0"/>
              <a:t> </a:t>
            </a:r>
            <a:r>
              <a:rPr lang="tr-TR" sz="1800" dirty="0" err="1"/>
              <a:t>pathfinding</a:t>
            </a:r>
            <a:r>
              <a:rPr lang="tr-TR" sz="1800" dirty="0"/>
              <a:t>, in: IJCAI, 2011, </a:t>
            </a:r>
            <a:r>
              <a:rPr lang="tr-TR" sz="1800" dirty="0" err="1"/>
              <a:t>pp</a:t>
            </a:r>
            <a:r>
              <a:rPr lang="tr-TR" sz="1800" dirty="0"/>
              <a:t>. 662–667.</a:t>
            </a:r>
            <a:endParaRPr lang="en-US" sz="1800" dirty="0"/>
          </a:p>
          <a:p>
            <a:r>
              <a:rPr lang="tr-TR" sz="1800" dirty="0" err="1"/>
              <a:t>Guni</a:t>
            </a:r>
            <a:r>
              <a:rPr lang="tr-TR" sz="1800" dirty="0"/>
              <a:t> </a:t>
            </a:r>
            <a:r>
              <a:rPr lang="tr-TR" sz="1800" dirty="0" err="1"/>
              <a:t>Sharon</a:t>
            </a:r>
            <a:r>
              <a:rPr lang="tr-TR" sz="1800" dirty="0"/>
              <a:t>, </a:t>
            </a:r>
            <a:r>
              <a:rPr lang="tr-TR" sz="1800" dirty="0" err="1"/>
              <a:t>Roni</a:t>
            </a:r>
            <a:r>
              <a:rPr lang="tr-TR" sz="1800" dirty="0"/>
              <a:t> </a:t>
            </a:r>
            <a:r>
              <a:rPr lang="tr-TR" sz="1800" dirty="0" err="1"/>
              <a:t>Stern</a:t>
            </a:r>
            <a:r>
              <a:rPr lang="tr-TR" sz="1800" dirty="0"/>
              <a:t>, Meir </a:t>
            </a:r>
            <a:r>
              <a:rPr lang="tr-TR" sz="1800" dirty="0" err="1"/>
              <a:t>Goldenberg</a:t>
            </a:r>
            <a:r>
              <a:rPr lang="tr-TR" sz="1800" dirty="0"/>
              <a:t>, </a:t>
            </a:r>
            <a:r>
              <a:rPr lang="tr-TR" sz="1800" dirty="0" err="1"/>
              <a:t>Ariel</a:t>
            </a:r>
            <a:r>
              <a:rPr lang="tr-TR" sz="1800" dirty="0"/>
              <a:t> </a:t>
            </a:r>
            <a:r>
              <a:rPr lang="tr-TR" sz="1800" dirty="0" err="1"/>
              <a:t>Felner</a:t>
            </a:r>
            <a:r>
              <a:rPr lang="tr-TR" sz="1800" dirty="0"/>
              <a:t>, </a:t>
            </a:r>
            <a:r>
              <a:rPr lang="tr-TR" sz="1800" dirty="0" err="1"/>
              <a:t>The</a:t>
            </a:r>
            <a:r>
              <a:rPr lang="tr-TR" sz="1800" dirty="0"/>
              <a:t> </a:t>
            </a:r>
            <a:r>
              <a:rPr lang="tr-TR" sz="1800" dirty="0" err="1"/>
              <a:t>increasing</a:t>
            </a:r>
            <a:r>
              <a:rPr lang="tr-TR" sz="1800" dirty="0"/>
              <a:t> </a:t>
            </a:r>
            <a:r>
              <a:rPr lang="tr-TR" sz="1800" dirty="0" err="1"/>
              <a:t>cost</a:t>
            </a:r>
            <a:r>
              <a:rPr lang="tr-TR" sz="1800" dirty="0"/>
              <a:t> </a:t>
            </a:r>
            <a:r>
              <a:rPr lang="tr-TR" sz="1800" dirty="0" err="1"/>
              <a:t>tree</a:t>
            </a:r>
            <a:r>
              <a:rPr lang="tr-TR" sz="1800" dirty="0"/>
              <a:t> </a:t>
            </a:r>
            <a:r>
              <a:rPr lang="tr-TR" sz="1800" dirty="0" err="1"/>
              <a:t>search</a:t>
            </a:r>
            <a:r>
              <a:rPr lang="tr-TR" sz="1800" dirty="0"/>
              <a:t> </a:t>
            </a:r>
            <a:r>
              <a:rPr lang="tr-TR" sz="1800" dirty="0" err="1"/>
              <a:t>for</a:t>
            </a:r>
            <a:r>
              <a:rPr lang="tr-TR" sz="1800" dirty="0"/>
              <a:t> optimal </a:t>
            </a:r>
            <a:r>
              <a:rPr lang="tr-TR" sz="1800" dirty="0" err="1"/>
              <a:t>multi-agent</a:t>
            </a:r>
            <a:r>
              <a:rPr lang="tr-TR" sz="1800" dirty="0"/>
              <a:t> </a:t>
            </a:r>
            <a:r>
              <a:rPr lang="tr-TR" sz="1800" dirty="0" err="1"/>
              <a:t>pathfinding</a:t>
            </a:r>
            <a:r>
              <a:rPr lang="tr-TR" sz="1800" dirty="0"/>
              <a:t>, </a:t>
            </a:r>
            <a:r>
              <a:rPr lang="tr-TR" sz="1800" dirty="0" err="1"/>
              <a:t>Artif</a:t>
            </a:r>
            <a:r>
              <a:rPr lang="tr-TR" sz="1800" dirty="0"/>
              <a:t>. </a:t>
            </a:r>
            <a:r>
              <a:rPr lang="tr-TR" sz="1800" dirty="0" err="1"/>
              <a:t>Intell</a:t>
            </a:r>
            <a:r>
              <a:rPr lang="tr-TR" sz="1800" dirty="0"/>
              <a:t>. 195 (2013) 470–495.</a:t>
            </a:r>
            <a:endParaRPr lang="en-US" sz="1800" dirty="0"/>
          </a:p>
          <a:p>
            <a:r>
              <a:rPr lang="tr-TR" sz="1800" dirty="0"/>
              <a:t>Meir </a:t>
            </a:r>
            <a:r>
              <a:rPr lang="tr-TR" sz="1800" dirty="0" err="1"/>
              <a:t>Goldenberg</a:t>
            </a:r>
            <a:r>
              <a:rPr lang="tr-TR" sz="1800" dirty="0"/>
              <a:t>, </a:t>
            </a:r>
            <a:r>
              <a:rPr lang="tr-TR" sz="1800" dirty="0" err="1"/>
              <a:t>Ariel</a:t>
            </a:r>
            <a:r>
              <a:rPr lang="tr-TR" sz="1800" dirty="0"/>
              <a:t> </a:t>
            </a:r>
            <a:r>
              <a:rPr lang="tr-TR" sz="1800" dirty="0" err="1"/>
              <a:t>Felner</a:t>
            </a:r>
            <a:r>
              <a:rPr lang="tr-TR" sz="1800" dirty="0"/>
              <a:t>, </a:t>
            </a:r>
            <a:r>
              <a:rPr lang="tr-TR" sz="1800" dirty="0" err="1"/>
              <a:t>Roni</a:t>
            </a:r>
            <a:r>
              <a:rPr lang="tr-TR" sz="1800" dirty="0"/>
              <a:t> </a:t>
            </a:r>
            <a:r>
              <a:rPr lang="tr-TR" sz="1800" dirty="0" err="1"/>
              <a:t>Stern</a:t>
            </a:r>
            <a:r>
              <a:rPr lang="tr-TR" sz="1800" dirty="0"/>
              <a:t>, </a:t>
            </a:r>
            <a:r>
              <a:rPr lang="tr-TR" sz="1800" dirty="0" err="1"/>
              <a:t>Guni</a:t>
            </a:r>
            <a:r>
              <a:rPr lang="tr-TR" sz="1800" dirty="0"/>
              <a:t> </a:t>
            </a:r>
            <a:r>
              <a:rPr lang="tr-TR" sz="1800" dirty="0" err="1"/>
              <a:t>Sharon</a:t>
            </a:r>
            <a:r>
              <a:rPr lang="tr-TR" sz="1800" dirty="0"/>
              <a:t>, </a:t>
            </a:r>
            <a:r>
              <a:rPr lang="tr-TR" sz="1800" dirty="0" err="1"/>
              <a:t>Nathan</a:t>
            </a:r>
            <a:r>
              <a:rPr lang="tr-TR" sz="1800" dirty="0"/>
              <a:t> R. </a:t>
            </a:r>
            <a:r>
              <a:rPr lang="tr-TR" sz="1800" dirty="0" err="1"/>
              <a:t>Sturtevant</a:t>
            </a:r>
            <a:r>
              <a:rPr lang="tr-TR" sz="1800" dirty="0"/>
              <a:t>, Robert C. </a:t>
            </a:r>
            <a:r>
              <a:rPr lang="tr-TR" sz="1800" dirty="0" err="1"/>
              <a:t>Holte</a:t>
            </a:r>
            <a:r>
              <a:rPr lang="tr-TR" sz="1800" dirty="0"/>
              <a:t>, </a:t>
            </a:r>
            <a:r>
              <a:rPr lang="tr-TR" sz="1800" dirty="0" err="1"/>
              <a:t>Jonathan</a:t>
            </a:r>
            <a:r>
              <a:rPr lang="tr-TR" sz="1800" dirty="0"/>
              <a:t> </a:t>
            </a:r>
            <a:r>
              <a:rPr lang="tr-TR" sz="1800" dirty="0" err="1"/>
              <a:t>Schaeffer</a:t>
            </a:r>
            <a:r>
              <a:rPr lang="tr-TR" sz="1800" dirty="0"/>
              <a:t>, </a:t>
            </a:r>
            <a:r>
              <a:rPr lang="tr-TR" sz="1800" dirty="0" err="1"/>
              <a:t>Enhanced</a:t>
            </a:r>
            <a:r>
              <a:rPr lang="tr-TR" sz="1800" dirty="0"/>
              <a:t> </a:t>
            </a:r>
            <a:r>
              <a:rPr lang="tr-TR" sz="1800" dirty="0" err="1"/>
              <a:t>partial</a:t>
            </a:r>
            <a:r>
              <a:rPr lang="tr-TR" sz="1800" dirty="0"/>
              <a:t> </a:t>
            </a:r>
            <a:r>
              <a:rPr lang="tr-TR" sz="1800" dirty="0" err="1"/>
              <a:t>expansion</a:t>
            </a:r>
            <a:r>
              <a:rPr lang="tr-TR" sz="1800" dirty="0"/>
              <a:t> A*, J. </a:t>
            </a:r>
            <a:r>
              <a:rPr lang="tr-TR" sz="1800" dirty="0" err="1"/>
              <a:t>Artif</a:t>
            </a:r>
            <a:r>
              <a:rPr lang="tr-TR" sz="1800" dirty="0"/>
              <a:t>. </a:t>
            </a:r>
            <a:r>
              <a:rPr lang="tr-TR" sz="1800" dirty="0" err="1"/>
              <a:t>Intell</a:t>
            </a:r>
            <a:r>
              <a:rPr lang="tr-TR" sz="1800" dirty="0"/>
              <a:t>. </a:t>
            </a:r>
            <a:r>
              <a:rPr lang="tr-TR" sz="1800" dirty="0" err="1"/>
              <a:t>Res</a:t>
            </a:r>
            <a:r>
              <a:rPr lang="tr-TR" sz="1800" dirty="0"/>
              <a:t>. 50 (2014) 141–187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9C685-5557-4712-A7ED-C04B2E99C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0006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B806-D71E-4969-A12D-937F7F017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3675" y="2766218"/>
            <a:ext cx="2784649" cy="1325563"/>
          </a:xfrm>
        </p:spPr>
        <p:txBody>
          <a:bodyPr/>
          <a:lstStyle/>
          <a:p>
            <a:pPr algn="ctr"/>
            <a:r>
              <a:rPr lang="en-US" dirty="0"/>
              <a:t>Any Questions?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5F63F-5666-4162-89BC-7F93F89C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520942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b2a402a-7aa0-470f-8732-c65458ab17ee" origin="userSelected">
  <element uid="d4613254-63f1-4b12-8c89-ea1ca2a88f12" value=""/>
</sisl>
</file>

<file path=customXml/itemProps1.xml><?xml version="1.0" encoding="utf-8"?>
<ds:datastoreItem xmlns:ds="http://schemas.openxmlformats.org/officeDocument/2006/customXml" ds:itemID="{DD0F207F-50B6-41F3-823D-3C9F0887F452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950</Words>
  <Application>Microsoft Office PowerPoint</Application>
  <PresentationFormat>Geniş ekran</PresentationFormat>
  <Paragraphs>207</Paragraphs>
  <Slides>26</Slides>
  <Notes>26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Office Theme</vt:lpstr>
      <vt:lpstr>Conflict-based search for optimal multi-agent pathfinding</vt:lpstr>
      <vt:lpstr>Index</vt:lpstr>
      <vt:lpstr>A*</vt:lpstr>
      <vt:lpstr>A*</vt:lpstr>
      <vt:lpstr>CBS (Conflict-based Search)</vt:lpstr>
      <vt:lpstr>Two Level of CBS</vt:lpstr>
      <vt:lpstr>CBS</vt:lpstr>
      <vt:lpstr>CBS</vt:lpstr>
      <vt:lpstr>CBS</vt:lpstr>
      <vt:lpstr>CBS</vt:lpstr>
      <vt:lpstr>CBS</vt:lpstr>
      <vt:lpstr>CBS</vt:lpstr>
      <vt:lpstr>Theorical Analysis of CBS</vt:lpstr>
      <vt:lpstr>Comparison of A* and CBS</vt:lpstr>
      <vt:lpstr>Comparison of A* and CBS</vt:lpstr>
      <vt:lpstr>8x8 Grid</vt:lpstr>
      <vt:lpstr>DAO Maps</vt:lpstr>
      <vt:lpstr>MA-CBS (Meta-agent Conflict-based Search)</vt:lpstr>
      <vt:lpstr>Merge policy</vt:lpstr>
      <vt:lpstr>Merging constraints</vt:lpstr>
      <vt:lpstr>Low Level of MA-CBS</vt:lpstr>
      <vt:lpstr>Run-time on DAO maps with EPEA* as low level</vt:lpstr>
      <vt:lpstr>Run-time on DAO maps with A* as low level</vt:lpstr>
      <vt:lpstr>DAO maps</vt:lpstr>
      <vt:lpstr>References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Demir Doruk Dilek (Tusaş - Türk Havacılık Ve Uzay Sanayii A.ş.)</dc:creator>
  <cp:lastModifiedBy>Demir Doruk Dilek</cp:lastModifiedBy>
  <cp:revision>64</cp:revision>
  <dcterms:created xsi:type="dcterms:W3CDTF">2026-01-20T10:31:49Z</dcterms:created>
  <dcterms:modified xsi:type="dcterms:W3CDTF">2026-01-28T15:49:15Z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1d6c1949-222a-4666-81d7-acb499cae167</vt:lpwstr>
  </property>
  <property fmtid="{D5CDD505-2E9C-101B-9397-08002B2CF9AE}" pid="3" name="bjClsUserRVM">
    <vt:lpwstr>[]</vt:lpwstr>
  </property>
  <property fmtid="{D5CDD505-2E9C-101B-9397-08002B2CF9AE}" pid="4" name="bjSaver">
    <vt:lpwstr>nBAEFT9rUYZ8OILUNNvH3eLmxKfdA6FE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policy="3b2a402a-7aa0-470f-8732-c65458ab17ee" origin="userSelected" xmlns="http://www.boldonj</vt:lpwstr>
  </property>
  <property fmtid="{D5CDD505-2E9C-101B-9397-08002B2CF9AE}" pid="6" name="bjDocumentLabelXML-0">
    <vt:lpwstr>ames.com/2008/01/sie/internal/label"&gt;&lt;element uid="d4613254-63f1-4b12-8c89-ea1ca2a88f12" value="" /&gt;&lt;/sisl&gt;</vt:lpwstr>
  </property>
  <property fmtid="{D5CDD505-2E9C-101B-9397-08002B2CF9AE}" pid="7" name="bjDocumentSecurityLabel">
    <vt:lpwstr>TASNİF DIŞI</vt:lpwstr>
  </property>
</Properties>
</file>